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6"/>
    <p:sldId id="281" r:id="rId5"/>
    <p:sldId id="282" r:id="rId4"/>
    <p:sldId id="283" r:id="rId3"/>
    <p:sldId id="284" r:id="rId2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4747" userDrawn="1">
          <p15:clr>
            <a:srgbClr val="A4A3A4"/>
          </p15:clr>
        </p15:guide>
        <p15:guide id="3" pos="4158" userDrawn="1">
          <p15:clr>
            <a:srgbClr val="A4A3A4"/>
          </p15:clr>
        </p15:guide>
        <p15:guide id="4" orient="horz" pos="2069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7" orient="horz" pos="3317" userDrawn="1">
          <p15:clr>
            <a:srgbClr val="A4A3A4"/>
          </p15:clr>
        </p15:guide>
        <p15:guide id="8" orient="horz" pos="2568" userDrawn="1">
          <p15:clr>
            <a:srgbClr val="A4A3A4"/>
          </p15:clr>
        </p15:guide>
        <p15:guide id="9" pos="7378" userDrawn="1">
          <p15:clr>
            <a:srgbClr val="A4A3A4"/>
          </p15:clr>
        </p15:guide>
        <p15:guide id="10" pos="597" userDrawn="1">
          <p15:clr>
            <a:srgbClr val="A4A3A4"/>
          </p15:clr>
        </p15:guide>
        <p15:guide id="11" pos="529" userDrawn="1">
          <p15:clr>
            <a:srgbClr val="A4A3A4"/>
          </p15:clr>
        </p15:guide>
        <p15:guide id="12" orient="horz" pos="1094" userDrawn="1">
          <p15:clr>
            <a:srgbClr val="A4A3A4"/>
          </p15:clr>
        </p15:guide>
        <p15:guide id="13" orient="horz" pos="2260" userDrawn="1">
          <p15:clr>
            <a:srgbClr val="A4A3A4"/>
          </p15:clr>
        </p15:guide>
        <p15:guide id="14" pos="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8F78"/>
    <a:srgbClr val="2E505B"/>
    <a:srgbClr val="040606"/>
    <a:srgbClr val="22B8B2"/>
    <a:srgbClr val="006B80"/>
    <a:srgbClr val="008281"/>
    <a:srgbClr val="0095B9"/>
    <a:srgbClr val="2C4A56"/>
    <a:srgbClr val="000000"/>
    <a:srgbClr val="00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32"/>
    <p:restoredTop sz="86437"/>
  </p:normalViewPr>
  <p:slideViewPr>
    <p:cSldViewPr snapToGrid="0">
      <p:cViewPr varScale="1">
        <p:scale>
          <a:sx n="99" d="100"/>
          <a:sy n="99" d="100"/>
        </p:scale>
        <p:origin x="72" y="480"/>
      </p:cViewPr>
      <p:guideLst>
        <p:guide orient="horz" pos="1321"/>
        <p:guide pos="4747"/>
        <p:guide pos="4158"/>
        <p:guide orient="horz" pos="2069"/>
        <p:guide orient="horz" pos="2160"/>
        <p:guide pos="7015"/>
        <p:guide orient="horz" pos="3317"/>
        <p:guide orient="horz" pos="2568"/>
        <p:guide pos="7378"/>
        <p:guide pos="597"/>
        <p:guide pos="529"/>
        <p:guide orient="horz" pos="1094"/>
        <p:guide orient="horz" pos="2260"/>
        <p:guide pos="4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9.xml"/><Relationship Id="rId3" Type="http://schemas.openxmlformats.org/officeDocument/2006/relationships/slide" Target="slides/slide28.xml"/><Relationship Id="rId4" Type="http://schemas.openxmlformats.org/officeDocument/2006/relationships/slide" Target="slides/slide27.xml"/><Relationship Id="rId5" Type="http://schemas.openxmlformats.org/officeDocument/2006/relationships/slide" Target="slides/slide26.xml"/><Relationship Id="rId6" Type="http://schemas.openxmlformats.org/officeDocument/2006/relationships/slide" Target="slides/slide2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млн в сутки</c:v>
                </c:pt>
              </c:strCache>
            </c:strRef>
          </c:tx>
          <c:spPr>
            <a:solidFill>
              <a:srgbClr val="0098AE"/>
            </a:solidFill>
          </c:spPr>
          <c:cat>
            <c:strRef>
              <c:f>Sheet1!$A$2:$A$5</c:f>
              <c:strCache>
                <c:ptCount val="4"/>
                <c:pt idx="0">
                  <c:v>IV кв. 2023</c:v>
                </c:pt>
                <c:pt idx="1">
                  <c:v>IV кв. 2024</c:v>
                </c:pt>
                <c:pt idx="2">
                  <c:v>2025 (в среднем)</c:v>
                </c:pt>
                <c:pt idx="3">
                  <c:v>II кв.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45</c:v>
                </c:pt>
                <c:pt idx="2">
                  <c:v>50</c:v>
                </c:pt>
                <c:pt idx="3">
                  <c:v>56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млрд</c:v>
                </c:pt>
              </c:strCache>
            </c:strRef>
          </c:tx>
          <c:spPr>
            <a:solidFill>
              <a:srgbClr val="0098AE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13.4</c:v>
                </c:pt>
                <c:pt idx="2">
                  <c:v>18.3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трлн ₽</c:v>
                </c:pt>
              </c:strCache>
            </c:strRef>
          </c:tx>
          <c:spPr>
            <a:solidFill>
              <a:srgbClr val="016A8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69.5</c:v>
                </c:pt>
                <c:pt idx="2">
                  <c:v>103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98AE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D70E16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BFBFBF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СБП</c:v>
                </c:pt>
                <c:pt idx="1">
                  <c:v>Карты</c:v>
                </c:pt>
                <c:pt idx="2">
                  <c:v>Счета без СБП</c:v>
                </c:pt>
                <c:pt idx="3">
                  <c:v>Иное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21</c:v>
                </c:pt>
                <c:pt idx="2">
                  <c:v>22</c:v>
                </c:pt>
                <c:pt idx="3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444C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По количеству, %</c:v>
                </c:pt>
              </c:strCache>
            </c:strRef>
          </c:tx>
          <c:spPr>
            <a:solidFill>
              <a:srgbClr val="0098AE"/>
            </a:solidFill>
          </c:spPr>
          <c:cat>
            <c:strRef>
              <c:f>Sheet1!$A$2:$A$4</c:f>
              <c:strCache>
                <c:ptCount val="3"/>
                <c:pt idx="0">
                  <c:v>Переводы (C2C)</c:v>
                </c:pt>
                <c:pt idx="1">
                  <c:v>Покупки (C2B)</c:v>
                </c:pt>
                <c:pt idx="2">
                  <c:v>Прочее*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</c:v>
                </c:pt>
                <c:pt idx="1">
                  <c:v>30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 объёму, %</c:v>
                </c:pt>
              </c:strCache>
            </c:strRef>
          </c:tx>
          <c:spPr>
            <a:solidFill>
              <a:srgbClr val="083542"/>
            </a:solidFill>
          </c:spPr>
          <c:cat>
            <c:strRef>
              <c:f>Sheet1!$A$2:$A$4</c:f>
              <c:strCache>
                <c:ptCount val="3"/>
                <c:pt idx="0">
                  <c:v>Переводы (C2C)</c:v>
                </c:pt>
                <c:pt idx="1">
                  <c:v>Покупки (C2B)</c:v>
                </c:pt>
                <c:pt idx="2">
                  <c:v>Прочее*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83542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98AE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70E16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BFBFBF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Карты</c:v>
                </c:pt>
                <c:pt idx="1">
                  <c:v>Моб. и онлайн-банкинг</c:v>
                </c:pt>
                <c:pt idx="2">
                  <c:v>Электронные кошельки</c:v>
                </c:pt>
                <c:pt idx="3">
                  <c:v>QR-коды</c:v>
                </c:pt>
                <c:pt idx="4">
                  <c:v>Прочее*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13</c:v>
                </c:pt>
                <c:pt idx="2">
                  <c:v>11</c:v>
                </c:pt>
                <c:pt idx="3">
                  <c:v>5</c:v>
                </c:pt>
                <c:pt idx="4">
                  <c:v>11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444C"/>
          </a:solidFill>
          <a:latin typeface="Segoe UI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₽</c:v>
                </c:pt>
              </c:strCache>
            </c:strRef>
          </c:tx>
          <c:spPr>
            <a:solidFill>
              <a:srgbClr val="0098AE"/>
            </a:solidFill>
          </c:spPr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083542"/>
              </a:solidFill>
            </c:spPr>
          </c:dPt>
          <c:dPt>
            <c:idx val="3"/>
            <c:spPr>
              <a:solidFill>
                <a:srgbClr val="5B9BD5"/>
              </a:solidFill>
            </c:spPr>
          </c:dPt>
          <c:dPt>
            <c:idx val="4"/>
            <c:spPr>
              <a:solidFill>
                <a:srgbClr val="D70E16"/>
              </a:solidFill>
            </c:spPr>
          </c:dPt>
          <c:dPt>
            <c:idx val="5"/>
            <c:spPr>
              <a:solidFill>
                <a:srgbClr val="016A80"/>
              </a:solidFill>
            </c:spPr>
          </c:dPt>
          <c:cat>
            <c:strRef>
              <c:f>Sheet1!$A$2:$A$7</c:f>
              <c:strCache>
                <c:ptCount val="6"/>
                <c:pt idx="0">
                  <c:v>Смартфон</c:v>
                </c:pt>
                <c:pt idx="1">
                  <c:v>Биометрия</c:v>
                </c:pt>
                <c:pt idx="2">
                  <c:v>Карта</c:v>
                </c:pt>
                <c:pt idx="3">
                  <c:v>Кошелёк</c:v>
                </c:pt>
                <c:pt idx="4">
                  <c:v>QR-код</c:v>
                </c:pt>
                <c:pt idx="5">
                  <c:v>Онлайн-банкинг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716</c:v>
                </c:pt>
                <c:pt idx="1">
                  <c:v>730</c:v>
                </c:pt>
                <c:pt idx="2">
                  <c:v>838</c:v>
                </c:pt>
                <c:pt idx="3">
                  <c:v>1178</c:v>
                </c:pt>
                <c:pt idx="4">
                  <c:v>1432</c:v>
                </c:pt>
                <c:pt idx="5">
                  <c:v>2438</c:v>
                </c:pt>
              </c:numCache>
            </c:numRef>
          </c:val>
        </c:ser>
        <c:dLbls>
          <c:numFmt formatCode="# ##0&quot; ₽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Все ТСП</c:v>
                </c:pt>
              </c:strCache>
            </c:strRef>
          </c:tx>
          <c:spPr>
            <a:solidFill>
              <a:srgbClr val="016A80"/>
            </a:solidFill>
          </c:spPr>
          <c:cat>
            <c:strRef>
              <c:f>Sheet1!$A$2:$A$6</c:f>
              <c:strCache>
                <c:ptCount val="5"/>
                <c:pt idx="0">
                  <c:v>II кв. 25</c:v>
                </c:pt>
                <c:pt idx="1">
                  <c:v>III кв. 25</c:v>
                </c:pt>
                <c:pt idx="2">
                  <c:v>IV кв. 25</c:v>
                </c:pt>
                <c:pt idx="3">
                  <c:v>I кв. 26</c:v>
                </c:pt>
                <c:pt idx="4">
                  <c:v>II кв. 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2.55</c:v>
                </c:pt>
                <c:pt idx="1">
                  <c:v>2.75</c:v>
                </c:pt>
                <c:pt idx="2">
                  <c:v>2.97</c:v>
                </c:pt>
                <c:pt idx="3">
                  <c:v>3.14</c:v>
                </c:pt>
                <c:pt idx="4">
                  <c:v>3.34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из них МСП</c:v>
                </c:pt>
              </c:strCache>
            </c:strRef>
          </c:tx>
          <c:spPr>
            <a:solidFill>
              <a:srgbClr val="19C3D6"/>
            </a:solidFill>
          </c:spPr>
          <c:cat>
            <c:strRef>
              <c:f>Sheet1!$A$2:$A$6</c:f>
              <c:strCache>
                <c:ptCount val="5"/>
                <c:pt idx="0">
                  <c:v>II кв. 25</c:v>
                </c:pt>
                <c:pt idx="1">
                  <c:v>III кв. 25</c:v>
                </c:pt>
                <c:pt idx="2">
                  <c:v>IV кв. 25</c:v>
                </c:pt>
                <c:pt idx="3">
                  <c:v>I кв. 26</c:v>
                </c:pt>
                <c:pt idx="4">
                  <c:v>II кв. 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2.08</c:v>
                </c:pt>
                <c:pt idx="1">
                  <c:v>2.15</c:v>
                </c:pt>
                <c:pt idx="2">
                  <c:v>2.3</c:v>
                </c:pt>
                <c:pt idx="3">
                  <c:v>2.43</c:v>
                </c:pt>
                <c:pt idx="4">
                  <c:v>2.55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оплат</c:v>
                </c:pt>
              </c:strCache>
            </c:strRef>
          </c:tx>
          <c:spPr>
            <a:solidFill>
              <a:srgbClr val="0098AE"/>
            </a:solidFill>
          </c:spPr>
          <c:dPt>
            <c:idx val="0"/>
            <c:spPr>
              <a:solidFill>
                <a:srgbClr val="016A80"/>
              </a:solidFill>
            </c:spPr>
          </c:dPt>
          <c:dPt>
            <c:idx val="1"/>
            <c:spPr>
              <a:solidFill>
                <a:srgbClr val="016A80"/>
              </a:solidFill>
            </c:spPr>
          </c:dPt>
          <c:dPt>
            <c:idx val="2"/>
            <c:spPr>
              <a:solidFill>
                <a:srgbClr val="016A80"/>
              </a:solidFill>
            </c:spPr>
          </c:dPt>
          <c:dPt>
            <c:idx val="3"/>
            <c:spPr>
              <a:solidFill>
                <a:srgbClr val="016A80"/>
              </a:solidFill>
            </c:spPr>
          </c:dPt>
          <c:dPt>
            <c:idx val="4"/>
            <c:spPr>
              <a:solidFill>
                <a:srgbClr val="016A80"/>
              </a:solidFill>
            </c:spPr>
          </c:dPt>
          <c:dPt>
            <c:idx val="5"/>
            <c:spPr>
              <a:solidFill>
                <a:srgbClr val="016A80"/>
              </a:solidFill>
            </c:spPr>
          </c:dPt>
          <c:dPt>
            <c:idx val="6"/>
            <c:spPr>
              <a:solidFill>
                <a:srgbClr val="083542"/>
              </a:solidFill>
            </c:spPr>
          </c:dPt>
          <c:dPt>
            <c:idx val="7"/>
            <c:spPr>
              <a:solidFill>
                <a:srgbClr val="5B9BD5"/>
              </a:solidFill>
            </c:spPr>
          </c:dPt>
          <c:dPt>
            <c:idx val="8"/>
            <c:spPr>
              <a:solidFill>
                <a:srgbClr val="D70E16"/>
              </a:solidFill>
            </c:spPr>
          </c:dPt>
          <c:cat>
            <c:strRef>
              <c:f>Sheet1!$A$2:$A$10</c:f>
              <c:strCache>
                <c:ptCount val="9"/>
                <c:pt idx="0">
                  <c:v>СЗФО</c:v>
                </c:pt>
                <c:pt idx="1">
                  <c:v>СФО</c:v>
                </c:pt>
                <c:pt idx="2">
                  <c:v>ЦФО</c:v>
                </c:pt>
                <c:pt idx="3">
                  <c:v>УФО</c:v>
                </c:pt>
                <c:pt idx="4">
                  <c:v>ДФО</c:v>
                </c:pt>
                <c:pt idx="5">
                  <c:v>ПФО</c:v>
                </c:pt>
                <c:pt idx="6">
                  <c:v>Россия</c:v>
                </c:pt>
                <c:pt idx="7">
                  <c:v>ЮФО</c:v>
                </c:pt>
                <c:pt idx="8">
                  <c:v>СКФО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112.5</c:v>
                </c:pt>
                <c:pt idx="1">
                  <c:v>103.8</c:v>
                </c:pt>
                <c:pt idx="2">
                  <c:v>103.3</c:v>
                </c:pt>
                <c:pt idx="3">
                  <c:v>100.8</c:v>
                </c:pt>
                <c:pt idx="4">
                  <c:v>97.5</c:v>
                </c:pt>
                <c:pt idx="5">
                  <c:v>95.4</c:v>
                </c:pt>
                <c:pt idx="6">
                  <c:v>92.0</c:v>
                </c:pt>
                <c:pt idx="7">
                  <c:v>84.0</c:v>
                </c:pt>
                <c:pt idx="8">
                  <c:v>31.9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Комиссия, ₽</c:v>
                </c:pt>
              </c:strCache>
            </c:strRef>
          </c:tx>
          <c:spPr>
            <a:solidFill>
              <a:srgbClr val="0098AE"/>
            </a:solidFill>
          </c:spPr>
          <c:cat>
            <c:strRef>
              <c:f>Sheet1!$A$2:$A$5</c:f>
              <c:strCache>
                <c:ptCount val="4"/>
                <c:pt idx="0">
                  <c:v>ЦР 2027 (0,3%)</c:v>
                </c:pt>
                <c:pt idx="1">
                  <c:v>СБП (0,7%)</c:v>
                </c:pt>
                <c:pt idx="2">
                  <c:v>Карта 1,5%</c:v>
                </c:pt>
                <c:pt idx="3">
                  <c:v>Карта 2,5%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11.9</c:v>
                </c:pt>
                <c:pt idx="2">
                  <c:v>25.5</c:v>
                </c:pt>
                <c:pt idx="3">
                  <c:v>42.5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НДС 22%, ₽</c:v>
                </c:pt>
              </c:strCache>
            </c:strRef>
          </c:tx>
          <c:spPr>
            <a:solidFill>
              <a:srgbClr val="D70E16"/>
            </a:solidFill>
          </c:spPr>
          <c:cat>
            <c:strRef>
              <c:f>Sheet1!$A$2:$A$5</c:f>
              <c:strCache>
                <c:ptCount val="4"/>
                <c:pt idx="0">
                  <c:v>ЦР 2027 (0,3%)</c:v>
                </c:pt>
                <c:pt idx="1">
                  <c:v>СБП (0,7%)</c:v>
                </c:pt>
                <c:pt idx="2">
                  <c:v>Карта 1,5%</c:v>
                </c:pt>
                <c:pt idx="3">
                  <c:v>Карта 2,5%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5.61</c:v>
                </c:pt>
                <c:pt idx="3">
                  <c:v>9.35</c:v>
                </c:pt>
              </c:numCache>
            </c:numRef>
          </c:val>
        </c:ser>
        <c:dLbls>
          <c:numFmt formatCode="0.00;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операций на человека в месяц</c:v>
                </c:pt>
              </c:strCache>
            </c:strRef>
          </c:tx>
          <c:spPr>
            <a:solidFill>
              <a:srgbClr val="0098AE"/>
            </a:solidFill>
          </c:spPr>
          <c:dPt>
            <c:idx val="0"/>
            <c:spPr>
              <a:solidFill>
                <a:srgbClr val="D70E16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016A80"/>
              </a:solidFill>
            </c:spPr>
          </c:dPt>
          <c:cat>
            <c:strRef>
              <c:f>Sheet1!$A$2:$A$4</c:f>
              <c:strCache>
                <c:ptCount val="3"/>
                <c:pt idx="0">
                  <c:v>Россия · СБП</c:v>
                </c:pt>
                <c:pt idx="1">
                  <c:v>Индия · UPI</c:v>
                </c:pt>
                <c:pt idx="2">
                  <c:v>Бразилия · Pix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16.9</c:v>
                </c:pt>
                <c:pt idx="2">
                  <c:v>38.1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тыс. кошельков</c:v>
                </c:pt>
              </c:strCache>
            </c:strRef>
          </c:tx>
          <c:spPr>
            <a:solidFill>
              <a:srgbClr val="0098AE"/>
            </a:solidFill>
          </c:spPr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0098AE"/>
              </a:solidFill>
            </c:spPr>
          </c:dPt>
          <c:dPt>
            <c:idx val="2"/>
            <c:spPr>
              <a:solidFill>
                <a:srgbClr val="9AA7AD"/>
              </a:solidFill>
            </c:spPr>
          </c:dPt>
          <c:cat>
            <c:strRef>
              <c:f>Sheet1!$A$2:$A$4</c:f>
              <c:strCache>
                <c:ptCount val="3"/>
                <c:pt idx="0">
                  <c:v>10.09.2026</c:v>
                </c:pt>
                <c:pt idx="1">
                  <c:v>12.10.2026</c:v>
                </c:pt>
                <c:pt idx="2">
                  <c:v>Ожидание ЦБ
на конец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220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DB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444C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F2B11-C660-0B42-BC56-08B2FC6B25D8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36E8-9F60-4647-94D7-713CBE060A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2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Меня зовут Антон Шкель, группа ПрИнж25-1. Тема — экономика быстрого платежа: как СБП изменила стоимость безналичных расчётов и какое место займёт цифровой рубль. Помимо исследования, я сделал открытый репозиторий с данными, кодом и веб-калькулятором.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Коротко. Вопрос: почему покупки уходят с карт в СБП и что изменит цифровой рубль. Метрика: сколько продавец платит за приём одного платежа. Результат: СБП дешевле карты в 2,6–4,4 раза, а с 2027 года ещё дешевле — цифровой рубль. И всё это можно посчитать для любого бизнеса в моём калькуляторе.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Структура: введение и методология, затем восемь разделов — как устроена СБП, битва за кассу, экономика чека, риски, мировой опыт, цифровой рубль, стратегический анализ и, наконец, продукт и выводы.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Масштаб. Во втором квартале 2026 года через СБП проходило 56 миллионов операций в сутки — 5,1 миллиарда за квартал на 29,9 триллиона рублей. СБП принимают 3,3 миллиона продавцов. В конце 2023 года было 26 миллионов операций в сутки — рост более чем вдвое.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Проблема. При оплате картой деньги проходят через банк покупателя, платёжную систему и банк продавца — продавец платит 1,5–2,5 процента плюс, с 2026 года, НДС с комиссии. По СБП цепочка короче, комиссия 0,4–0,7 процента, деньги приходят за секунды. Продавец закладывает комиссию в цену — значит, платим все.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Паспорт. Объект — безналичные розничные платежи России, кейс — СБП. Предмет — цена, скорость и доля трёх способов оплаты. Метрика — цена приёма платежа для продавца. Методы — статистика ЦБ, юнит-экономика, анализ чувствительности, международное сравнение, PEST, SWOT, пять сил Портера, модель Кили и сценарии.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гипотезы. Первая — переток покупок в СБП объясняется ценой: подтверждена частично. Вторая — налоги и тарифы 2026 года не уничтожили преимущество СБП: подтверждена расчётом. Третья — у цифрового рубля нет ценового стимула: пересмотрена. ЦБ дал ему лучший тариф, а кошельков за месяц открыли вчетверо больше, чем ждал сам ЦБ.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Словарь метрик. Главная — цена платежа для продавца: чек, умноженный на ставку и на единицу плюс НДС, с учётом потолка. Из неё — разрыв цены между способами и экономия бизнеса. Плюс рыночные метрики Банка России: доля способа оплаты, средний чек, проникновение у продавцов, доля переводов себе, и моя метрика интенсивности — операций на человека в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Процесс. Сначала сбор: отчёты и решения Банка России, затем СМИ. Затем верификация: у каждой цифры есть источник и статус — первичный, вторичный, спорный или авторский. Дальше модель на Python с тестами: если я ошибусь в формуле, тест упадёт. Затем визуализация — слайды и дашборд. И в конце проверка гипотез. Всё это лежит в открытом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первый — как устроена СБП и как она захватила переводы.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устроена СБП. Покупатель подтверждает платёж в приложении своего банка. Банк отправляет запрос в операционный центр СБП — его функции выполняет НСПК: она находит получателя по номеру телефона или QR и маршрутизирует платёж. Расчёты проходят через Банк России в реальном времени, и банк получателя зачисляет деньги. Всё это — круглосуточно и за 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СБП — это не только переводы. Это девять сценариев: переводы людям и себе, оплата по QR, оплата онлайн по ссылке, подписки, выплаты от компаний, платежи между компаниями, платежи в бюджет и переводы в другие страны. Самые быстрорастущие — платежи бизнеса между собой, выросли втрое за год, и платежи в бюджет.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Хронология. Январь 2019-го — запуск СБП. Май 2020-го — подключился Сбербанк, последний из крупных. 2023 — кэшбэк-программа и удвоение. 2024 — 13,4 миллиарда операций, 2025 — 18,3 миллиарда на 103 триллиона. А 2026 — год регулятора: НДС на эквайринг, тарифы ЦБ в СБП и старт массового цифрового рубля.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Динамика. 2023 год — 7 миллиардов операций на 31 триллион, 2025-й — 18,3 миллиарда на 103 триллиона. Объём вырос в 3,3 раза, количество — в 2,6 раза. Средняя операция выросла примерно с 4,4 до 5,6 тысячи рублей: в СБП уходят всё более крупные деньги.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Через СБП проходит 55 процентов всех переводов граждан, плюс 7 пунктов за год. Карты — 21 процент, минус 8. Перевод по номеру карты уходит в прошлое. Битва за переводы закончена — теперь борьба идёт за кассу.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Почти половина переводов между людьми по количеству и больше двух третей по объёму — переводы самому себе. Почему? Себе можно бесплатно до 30 миллионов в месяц, другим — до 100 тысяч. Люди перекладывают деньги туда, где выше ставка или кэшбэк. По сути, СБП стала трубопроводом конкуренции банков за деньги клиентов.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СБП бесплатна для людей. Тариф ЦБ для переводов между людьми — ноль рублей. Платят бизнес-сценарии: покупки, выплаты, платежи компаний. Это классическая платформенная модель: бесплатный вход для массового пользователя и плата там, где есть экономическая выгода. При ключевой ставке 14 процентов перекладывать деньги между банками выгодно — отсюда бум переводов себе.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 СБП. Переводы между людьми — 68 процентов операций и 88 процентов денег. Покупки — 30 процентов операций, но 9 процентов денег. Средний чек покупки — 1,7 тысячи, средний перевод — около 7,6 тысячи. Покупки по СБП частые и небольшие, и именно тут СБП конкурирует с картой.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второй — битва за кассу.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— почти 60 процентов покупок, из них 50 — бесконтактно. Банкинг — 13, кошельки маркетплейсов — 11, QR — 5. За год доля карт упала на 5 пунктов по количеству и на 7 по объёму. Карты проигрывают сразу трём конкурентам.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Средний чек: смартфоном — 716 рублей, биометрией — 730, картой — 838, кошельком — 1 178, по QR — 1 432, онлайн-банкинг — 2 438. Чек по QR в 1,7 раза больше карточного. Чем крупнее чек, тем выгоднее продавцу предложить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Продавцы. За год число точек, принимающих СБП, выросло с 2,55 до 3,34 миллиона — на 31 процент. В 2023 году их было 1,5 миллиона. Подключено 36 процентов малых и средних предприятий, 4 из 10 точек уже используют СБП.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стране 5,4 миллиона терминалов: 98 процентов принимают бесконтактные карты, 70 — QR, 31 — биометрию. Растёт оплата через Bluetooth: 86 миллионов покупок за квартал, плюс 30 процентов. Касса понимает карту, QR, лицо и смартфон — выбор способа оплаты стал управляемым.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Биометрия. В Единой биометрической системе — около 10 миллионов человек на конец 2025 года, годом раньше был миллион. За 2025 год — 195 миллионов биометрических платежей, в шесть раз больше. 31 процент терминалов уже умеет принимать оплату лицом. Но в общей структуре платежей это пока 0,2 процента. Технология опережает привычку.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банки исторически продвигали карты. С карточной комиссии продавца банк получает доход и платит из него кэшбэк — в 2024 году банки выплатили 392 миллиарда рублей кэшбэка, в 2025-м — 450–500 миллиардов. У СБП комиссия ниже, а значит, и денег на кэшбэк меньше. Показательно, что СБП удвоилась в 2023 году именно благодаря отдельной кэшбэк-программе. А в 2026 году банки сокращают расходы на лояльность.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контртренда. Во втором квартале 2026 года впервые вырос оборот наличных, доля безнала — 88,4 процента. И огромный региональный разрыв: житель Северо-Запада платит картой 112 раз за квартал, Северного Кавказа — 32 раза, в 3,5 раза реже.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третий, главный, — экономика одного чека.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 платежа: комиссия банка в процентах от чека, с 2026 года — НДС 22 процента на комиссию эквайринга, и время: по карте деньги приходят на следующий день, по СБП — за секунды. Формула: чек, умноженный на комиссию и на единицу плюс НДС.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покупателя все способы бесплатны. Продавцу карта стоит 1,5–2,5 процента плюс НДС, СБП — 0,4–0,7, ЖКУ — 0,2, с потолком 1 500 рублей. Цифровой рубль — 0 процентов в 2026 году и 0,3 с 2027-го по решению ЦБ от 28 августа. Это ключевой момент исследования.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чека: 300 рублей, 1 700 — реальный средний чек СБП — и 5 000. На чеке 1 700 СБП стоит продавцу 11,90 рубля, карта — 31–52 рубля с НДС, цифровой рубль с 2027 года — 5,10. Самый дорогой способ в 10 раз дороже самого дешёвого.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графике — чек 1 700 рублей. Красным — НДС, добавившийся к карточной комиссии в 2026 году. Карта дороже СБП в 2,6–4,4 раза, СБП дороже цифрового рубля 2027 года в 2,3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Анализ чувствительности. Я менял ставку эквайринга от 1 до 3 процентов. Даже при одном проценте карта с НДС на 74 процента дороже СБП. Точка безубыточности: карта сравняется с СБП, только если эквайринг стоит меньше 0,57 процента — это в разы ниже рыночного диапазона. Вывод устойчив к допущениям.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Магазин переводит 30 процентов оплат с карты в СБП. При обороте 1 миллион рублей в месяц — около 63 тысяч экономии в год, при 10 миллионах — 626 тысяч. В цифровой рубль по тарифу 2027 года — ещё на 23 процента больше. Это условный пример; свои цифры можно посчитать в моём калькуляторе.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 1 мая 2026 года ЦБ берёт с банков от 5 копеек до 3 рублей за операцию с бизнесом. Переводы людям, платежи государству и возвраты — бесплатно. На чеке 1 700 рублей — 80 копеек, около 0,05 процента. По моей оценке, основная часть комиссии продавца — доход банков.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2026 году цену способа оплаты сильнее меняет регулятор. НДС на эквайринг сделал карту дороже. Тарифы ЦБ сделали СБП платной для банков, но в копейках. Тарифы цифрового рубля сделали его самым дешёвым. А закон о платформенной экономике запретил маркетплейсам ставить цену в зависимости от способа оплаты.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четвёртый — обратная сторона мгновенных платежей.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2025 году мошенники похитили 29,3 миллиарда рублей, банки вернули 5,9 процента, годом раньше — 9,9. Доля таких операций в объёме переводов — 0,0007 процента. Но деньги уходят за секунды, и вернуть их почти невозможно. Это данные по всем переводам.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Свежие данные Банка России за второй квартал 2026 года. Всего — 459 тысяч операций без согласия клиентов на 7,35 миллиарда рублей. Через СБП — 129 тысяч операций на 2,74 миллиарда, это около 37 процентов всего похищенного. По данным «Коммерсанта», число краж через СБП — рекорд за всю историю наблюдений. Эксперты допускают, что это разовая волна.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пятый — международное сравнение.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UPI в Индии — с 2016 года, 24,5 миллиарда операций в месяц. Pix в Бразилии — с 2020 года, 8,1 миллиарда и 29 процентов розничных платежей. СБП — с 2019 года, около 1,7 миллиарда в месяц. Разница — в цене для продавца: UPI годами была бесплатной за счёт бюджета, а с 15 октября 2026 года, по сообщениям, вводит 0,4 процента на часть крупных платежей.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одного человека: Индия — около 17 операций в месяц, Россия — около 12, Бразилия — 38. Бразилец пользуется Pix в 3,3 раза чаще, чем россиянин СБП. У СБП большой запас роста.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СБП работает и за границей: по номеру телефона можно перевести деньги в девять стран — Абхазию, Армению, Белоруссию, Казахстан, Киргизию, Лаос, Молдавию, Таджикистан и Узбекистан. Тариф ЦБ для банка за исходящий трансграничный перевод — 6 рублей. Это мостик для переводов в ЕАЭС и СНГ, но масштаб пока несравним с внутренним рынком.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Цифровой юань — крупнейший пилот: по сообщениям, 16,7 триллиона юаней накопленным итогом к ноябрю 2025 года. Цифровой евро — не раньше 2029 года, закон ещё обсуждается. Полностью запустили цифровую валюту лишь Багамы, Ямайка и Нигерия. Россия опережает еврозону минимум на два-три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шестой — цифровой рубль.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волны. С 1 сентября 2026 года — крупнейшие банки и продавцы с выручкой больше 120 миллионов. С сентября 2027-го — универсальные банки и выручка больше 30 миллионов. С сентября 2028-го — остальные, кроме совсем маленьких. Тариф: 0 процентов в 2026 году, 0,3 — с 2027-го.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Старт. За первые десять дней — 87 тысяч кошельков и больше 50 тысяч операций. Были сбои: в Альфа-Банке верификация занимала больше 30 минут, в Сбербанке кнопку было трудно найти, у Озон Банка и Райффайзена — ошибки, на iOS доступ ограничен. ЦБ назвал старт штатным.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Новые данные — на 12 октября. Открыто около 220 тысяч кошельков, проведено больше 150 тысяч операций, в день открывают 3–5 тысяч кошельков, около 10 тысяч — у юрлиц. А сам ЦБ ожидал всего 60 тысяч к концу года. Факт выше ожидания в 3,7 раза. Но 220 тысяч — это 0,15 процента населения, и открыть кошелёк — не значит им пользоваться.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СБП против цифрового рубля. Для покупателя оба бесплатны. Для продавца цифровой рубль дешевле. Но деньги в СБП лежат на счёте в банке, где на них начисляют проценты, а цифровые рубли — на платформе ЦБ, и проценты на них не начисляются. У СБП — 55 процентов переводов и 3,3 миллиона продавцов, у цифрового рубля — 220 тысяч кошельков. У ЦР есть цена, но нет привычки.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сценария. Низкий — меньше процента оплат: людям незачем менять привычку. Базовый — 1–3 процента: обязательный приём и низкий тариф дают рост. Высокий — 5–10 процентов: если зарплаты, пособия и госплатежи пойдут в цифровых рублях. Быстрый старт сдвигает вероятность к базовому сценарию. Это условные значения, не прогноз.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седьмой — стратегический анализ рынка.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PEST-анализ. Политика: суверенная платёжная инфраструктура, ЦБ — оператор СБП и цифрового рубля, новые законы. Экономика: ставка 14 процентов, НДС на эквайринг, банки сокращают кэшбэк, вернулись наличные. Общество: семь из десяти россиян переводят через СБП, но есть региональный разрыв. Технологии: QR, биометрия, Bluetooth, офлайн-платежи.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SWOT СБП. Сильные стороны: скорость, низкая цена для продавца, все банки в одной сети. Слабые: зависимость от приложения банка, у покупателя нет стимула, мошенничество. Возможности: доля в покупках, B2B, госплатежи, рост до уровня Pix. Угрозы: цифровой рубль дешевле, кошельки маркетплейсов, рост наличных и регулирование тарифов.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сил Портера для рынка приёма платежей. Конкуренция внутри высокая: банки-эквайеры, карты, СБП. Угроза субститутов высокая: QR, кошельки, цифровой рубль, наличные. Сила поставщиков инфраструктуры высокая: ЦБ и НСПК — монополисты в своих системах. Сила продавцов растёт: они выбирают способ оплаты. Новые игроки — маркетплейсы с кошельками и государство с цифровым рублём.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Кто выигрывает. Покупатель — бесплатные переводы, но риск мошенничества. Продавец — экономия на комиссии. Банки теряют часть комиссионного дохода и кэшбэк-модель, но выигрывают в конкуренции за клиентов. ЦБ получает контроль над инфраструктурой. Государство — прослеживаемость и налоги. Маркетплейсы потеряли право давать скидку за свой кошелёк.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 модели десяти типов инноваций Кили СБП сильна в сети, процессе и клиентском опыте. Цифровой рубль сильнее в модели прибыли — самая низкая цена — но слаб в клиентском опыте. Главная инновация СБП — сетевая: она сделала банки взаимозаменяемыми.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раздел — продукт и выводы.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Продукт. Я превратил исследование в инструмент — открытый репозиторий sbp-economics. Главное в нём — веб-калькулятор: продавец вводит оборот, средний чек, ставку банка и налоговый режим и видит, сколько платит за карту, СБП и цифровой рубль, и сколько сэкономит. Рядом — дашборд с данными ЦБ, CSV-данные, код расчётов на Python с автотестами и это исследование.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Рекомендации. Продавцу — предлагать QR на крупных чеках, посчитать свою экономию и готовиться к цифровому рублю, если выручка больше 30 миллионов. Банкам — зарабатывать на сервисах вокруг СБП и сделать цифровой рубль удобным. Регулятору — публиковать ежемесячную статистику по цифровому рублю и прозрачные тарифы. Покупателю — проверять получателя и пользоваться бесплатными лимитами.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выводов. Первый: СБП — уже инфраструктура. Второй: цена важна в покупках, но в переводах решает бесплатность — гипотеза один подтверждена частично. Третий: даже после налогов 2026 года СБП дешевле карты в 2,6–4,4 раза — гипотеза два подтверждена. Четвёртый: у цифрового рубля появилась цена и неожиданно быстрый старт — гипотеза три пересмотрена, барьер теперь привычка. Пятый: в 2026 году рынок двигает регулятор. Спасибо,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 и статус данных. Зелёным — проверено по первоисточнику Банка России, жёлтым — вторичные источники, красным — спорные, серым — мои расчёты. Все данные проверены на 20 октября 2026 года, а код, данные и калькулятор открыты в репозитории sbp-economics.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image" Target="../media/image29.png"/><Relationship Id="rId26" Type="http://schemas.openxmlformats.org/officeDocument/2006/relationships/image" Target="../media/image30.png"/><Relationship Id="rId27" Type="http://schemas.openxmlformats.org/officeDocument/2006/relationships/image" Target="../media/image31.png"/><Relationship Id="rId28" Type="http://schemas.openxmlformats.org/officeDocument/2006/relationships/image" Target="../media/image32.png"/><Relationship Id="rId29" Type="http://schemas.openxmlformats.org/officeDocument/2006/relationships/image" Target="../media/image33.png"/><Relationship Id="rId30" Type="http://schemas.openxmlformats.org/officeDocument/2006/relationships/image" Target="../media/image34.png"/><Relationship Id="rId31" Type="http://schemas.openxmlformats.org/officeDocument/2006/relationships/image" Target="../media/image35.png"/><Relationship Id="rId32" Type="http://schemas.openxmlformats.org/officeDocument/2006/relationships/image" Target="../media/image36.png"/><Relationship Id="rId33" Type="http://schemas.openxmlformats.org/officeDocument/2006/relationships/image" Target="../media/image37.png"/><Relationship Id="rId34" Type="http://schemas.openxmlformats.org/officeDocument/2006/relationships/image" Target="../media/image38.png"/><Relationship Id="rId35" Type="http://schemas.openxmlformats.org/officeDocument/2006/relationships/image" Target="../media/image39.png"/><Relationship Id="rId36" Type="http://schemas.openxmlformats.org/officeDocument/2006/relationships/image" Target="../media/image40.png"/><Relationship Id="rId37" Type="http://schemas.openxmlformats.org/officeDocument/2006/relationships/image" Target="../media/image41.png"/><Relationship Id="rId38" Type="http://schemas.openxmlformats.org/officeDocument/2006/relationships/image" Target="../media/image42.png"/><Relationship Id="rId39" Type="http://schemas.openxmlformats.org/officeDocument/2006/relationships/image" Target="../media/image43.png"/><Relationship Id="rId40" Type="http://schemas.openxmlformats.org/officeDocument/2006/relationships/image" Target="../media/image44.png"/><Relationship Id="rId41" Type="http://schemas.openxmlformats.org/officeDocument/2006/relationships/image" Target="../media/image45.png"/><Relationship Id="rId42" Type="http://schemas.openxmlformats.org/officeDocument/2006/relationships/image" Target="../media/image46.png"/><Relationship Id="rId43" Type="http://schemas.openxmlformats.org/officeDocument/2006/relationships/image" Target="../media/image47.png"/><Relationship Id="rId44" Type="http://schemas.openxmlformats.org/officeDocument/2006/relationships/image" Target="../media/image48.png"/><Relationship Id="rId45" Type="http://schemas.openxmlformats.org/officeDocument/2006/relationships/image" Target="../media/image49.png"/><Relationship Id="rId46" Type="http://schemas.openxmlformats.org/officeDocument/2006/relationships/image" Target="../media/image50.png"/><Relationship Id="rId47" Type="http://schemas.openxmlformats.org/officeDocument/2006/relationships/image" Target="../media/image51.png"/><Relationship Id="rId48" Type="http://schemas.openxmlformats.org/officeDocument/2006/relationships/image" Target="../media/image52.png"/><Relationship Id="rId49" Type="http://schemas.openxmlformats.org/officeDocument/2006/relationships/image" Target="../media/image53.png"/><Relationship Id="rId50" Type="http://schemas.openxmlformats.org/officeDocument/2006/relationships/image" Target="../media/image54.png"/><Relationship Id="rId51" Type="http://schemas.openxmlformats.org/officeDocument/2006/relationships/image" Target="../media/image55.png"/><Relationship Id="rId52" Type="http://schemas.openxmlformats.org/officeDocument/2006/relationships/image" Target="../media/image56.png"/><Relationship Id="rId53" Type="http://schemas.openxmlformats.org/officeDocument/2006/relationships/image" Target="../media/image57.png"/><Relationship Id="rId54" Type="http://schemas.openxmlformats.org/officeDocument/2006/relationships/image" Target="../media/image58.png"/><Relationship Id="rId55" Type="http://schemas.openxmlformats.org/officeDocument/2006/relationships/image" Target="../media/image59.png"/><Relationship Id="rId56" Type="http://schemas.openxmlformats.org/officeDocument/2006/relationships/image" Target="../media/image60.png"/><Relationship Id="rId57" Type="http://schemas.openxmlformats.org/officeDocument/2006/relationships/image" Target="../media/image61.png"/><Relationship Id="rId58" Type="http://schemas.openxmlformats.org/officeDocument/2006/relationships/image" Target="../media/image62.png"/><Relationship Id="rId59" Type="http://schemas.openxmlformats.org/officeDocument/2006/relationships/image" Target="../media/image63.png"/><Relationship Id="rId60" Type="http://schemas.openxmlformats.org/officeDocument/2006/relationships/image" Target="../media/image64.png"/><Relationship Id="rId61" Type="http://schemas.openxmlformats.org/officeDocument/2006/relationships/image" Target="../media/image65.png"/><Relationship Id="rId62" Type="http://schemas.openxmlformats.org/officeDocument/2006/relationships/image" Target="../media/image66.png"/><Relationship Id="rId63" Type="http://schemas.openxmlformats.org/officeDocument/2006/relationships/image" Target="../media/image67.png"/><Relationship Id="rId64" Type="http://schemas.openxmlformats.org/officeDocument/2006/relationships/image" Target="../media/image68.png"/><Relationship Id="rId65" Type="http://schemas.openxmlformats.org/officeDocument/2006/relationships/image" Target="../media/image69.png"/><Relationship Id="rId66" Type="http://schemas.openxmlformats.org/officeDocument/2006/relationships/image" Target="../media/image70.png"/><Relationship Id="rId67" Type="http://schemas.openxmlformats.org/officeDocument/2006/relationships/image" Target="../media/image71.png"/><Relationship Id="rId68" Type="http://schemas.openxmlformats.org/officeDocument/2006/relationships/image" Target="../media/image72.png"/><Relationship Id="rId69" Type="http://schemas.openxmlformats.org/officeDocument/2006/relationships/image" Target="../media/image73.png"/><Relationship Id="rId70" Type="http://schemas.openxmlformats.org/officeDocument/2006/relationships/image" Target="../media/image74.png"/><Relationship Id="rId71" Type="http://schemas.openxmlformats.org/officeDocument/2006/relationships/image" Target="../media/image75.png"/><Relationship Id="rId72" Type="http://schemas.openxmlformats.org/officeDocument/2006/relationships/image" Target="../media/image76.png"/><Relationship Id="rId73" Type="http://schemas.openxmlformats.org/officeDocument/2006/relationships/image" Target="../media/image77.png"/><Relationship Id="rId74" Type="http://schemas.openxmlformats.org/officeDocument/2006/relationships/image" Target="../media/image78.png"/><Relationship Id="rId75" Type="http://schemas.openxmlformats.org/officeDocument/2006/relationships/image" Target="../media/image79.png"/><Relationship Id="rId76" Type="http://schemas.openxmlformats.org/officeDocument/2006/relationships/image" Target="../media/image80.png"/><Relationship Id="rId77" Type="http://schemas.openxmlformats.org/officeDocument/2006/relationships/image" Target="../media/image81.png"/><Relationship Id="rId78" Type="http://schemas.openxmlformats.org/officeDocument/2006/relationships/image" Target="../media/image82.png"/><Relationship Id="rId79" Type="http://schemas.openxmlformats.org/officeDocument/2006/relationships/image" Target="../media/image83.png"/><Relationship Id="rId80" Type="http://schemas.openxmlformats.org/officeDocument/2006/relationships/image" Target="../media/image84.png"/><Relationship Id="rId81" Type="http://schemas.openxmlformats.org/officeDocument/2006/relationships/image" Target="../media/image85.png"/><Relationship Id="rId8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gradFill>
          <a:gsLst>
            <a:gs pos="68000">
              <a:srgbClr val="228F78"/>
            </a:gs>
            <a:gs pos="35000">
              <a:srgbClr val="2E505B"/>
            </a:gs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14">
            <a:extLst>
              <a:ext uri="{FF2B5EF4-FFF2-40B4-BE49-F238E27FC236}">
                <a16:creationId xmlns:a16="http://schemas.microsoft.com/office/drawing/2014/main" id="{5E2CCD38-A7BD-6E81-FE8E-1FAF9DA7A3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2415939"/>
            <a:ext cx="9116084" cy="2233945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555FD89-7F65-D0F7-ABB6-45F9C00B2A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889674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Если нужно больше места, то используйте подзаголовки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8" name="Дата 17">
            <a:extLst>
              <a:ext uri="{FF2B5EF4-FFF2-40B4-BE49-F238E27FC236}">
                <a16:creationId xmlns:a16="http://schemas.microsoft.com/office/drawing/2014/main" id="{808CD8C2-420B-20BC-6F0D-8DC6A42101E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D1F6B8-4E97-E1D5-0BA2-F81F1EE05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5" name="Текст 16">
            <a:extLst>
              <a:ext uri="{FF2B5EF4-FFF2-40B4-BE49-F238E27FC236}">
                <a16:creationId xmlns:a16="http://schemas.microsoft.com/office/drawing/2014/main" id="{4CCB0E38-95A7-AC6D-242C-4AB250B485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77" y="1587500"/>
            <a:ext cx="7071760" cy="3139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Название факультета / подразделения (16 </a:t>
            </a:r>
            <a:r>
              <a:rPr lang="en-US" dirty="0"/>
              <a:t>pt)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164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9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BE89A21-38BE-2C06-B2D9-DFD0AE058E63}"/>
              </a:ext>
            </a:extLst>
          </p:cNvPr>
          <p:cNvSpPr/>
          <p:nvPr userDrawn="1"/>
        </p:nvSpPr>
        <p:spPr>
          <a:xfrm>
            <a:off x="8527775" y="0"/>
            <a:ext cx="3664226" cy="6858001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514" y="1587500"/>
            <a:ext cx="5432322" cy="838435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0514" y="3066776"/>
            <a:ext cx="5432322" cy="2267352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211B911D-64F6-C3CA-A019-02E42AAD1BB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30974" y="1587500"/>
            <a:ext cx="4997346" cy="449897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 dirty="0"/>
              <a:t>Чтобы слайд не выглядел пустым сюда можно поставить иллюстрацию или фотографию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4ED8DD-A92C-F15D-617B-3579FD994F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Номер слайда 15">
            <a:extLst>
              <a:ext uri="{FF2B5EF4-FFF2-40B4-BE49-F238E27FC236}">
                <a16:creationId xmlns:a16="http://schemas.microsoft.com/office/drawing/2014/main" id="{5ED33C55-9DDB-E7D4-2DE8-B38D2019C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7480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pos="914" userDrawn="1">
          <p15:clr>
            <a:srgbClr val="FBAE40"/>
          </p15:clr>
        </p15:guide>
        <p15:guide id="3" orient="horz" pos="6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в 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D5279379-4357-1251-A865-CB93D63381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256231-6640-03AC-9C6B-F673F156321E}"/>
              </a:ext>
            </a:extLst>
          </p:cNvPr>
          <p:cNvSpPr/>
          <p:nvPr userDrawn="1"/>
        </p:nvSpPr>
        <p:spPr>
          <a:xfrm>
            <a:off x="0" y="3684105"/>
            <a:ext cx="12192000" cy="3173896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id="{E0668414-485B-7FB9-6EBE-95D7A9E2E5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2616200"/>
            <a:ext cx="10864644" cy="3485634"/>
          </a:xfrm>
          <a:solidFill>
            <a:schemeClr val="bg1"/>
          </a:solidFill>
        </p:spPr>
        <p:txBody>
          <a:bodyPr wrap="square" numCol="3" spcCol="216000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– девять слов.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F1B8FA-E557-8C9D-D85A-7E2773168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0FA4644A-C01E-6BC9-CC7F-7B9DB5A60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251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бло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5876822" cy="70173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07974"/>
            <a:ext cx="58768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13951" y="2907974"/>
            <a:ext cx="4314372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7EB58E-7BBB-2D41-1B0B-5BA78DF18C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5B5CF716-2E4B-1D07-CF6F-47CB575E7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7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23000" y="1587500"/>
            <a:ext cx="5305323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8888" y="1587499"/>
            <a:ext cx="5153109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888" y="3180333"/>
            <a:ext cx="5153110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DCB699-4536-5A0D-845E-D1F66CE035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81FD06FB-E6D8-0EC0-0D51-C39F132B8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04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5" y="1587500"/>
            <a:ext cx="5432323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2950638"/>
            <a:ext cx="5432323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88D927-011C-5BAD-3BA7-EFABB117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2253962A-0B5E-199A-FE4E-CAF1AE03A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1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ACE73D3-D2FE-1F03-59AB-EA316FBF6C15}"/>
              </a:ext>
            </a:extLst>
          </p:cNvPr>
          <p:cNvSpPr/>
          <p:nvPr userDrawn="1"/>
        </p:nvSpPr>
        <p:spPr>
          <a:xfrm rot="10800000">
            <a:off x="1" y="4220928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id="{C7A01643-080A-63EC-105E-0521721F85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990" y="4239752"/>
            <a:ext cx="2520000" cy="1693477"/>
          </a:xfrm>
          <a:solidFill>
            <a:schemeClr val="bg1"/>
          </a:solidFill>
        </p:spPr>
        <p:txBody>
          <a:bodyPr>
            <a:spAutoFit/>
          </a:bodyPr>
          <a:lstStyle>
            <a:lvl1pPr marL="0" indent="0">
              <a:lnSpc>
                <a:spcPts val="1800"/>
              </a:lnSpc>
              <a:buNone/>
              <a:defRPr sz="130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C7F987-22D4-D708-7BE8-B8D3A2441E9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23780" y="4220927"/>
            <a:ext cx="2519362" cy="17272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9743B55-ADFE-0704-54B8-CC1A34C4A7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4293" y="4220927"/>
            <a:ext cx="2519363" cy="1760537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lnSpc>
                <a:spcPts val="1800"/>
              </a:lnSpc>
              <a:buNone/>
              <a:defRPr sz="1300"/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A41D67DA-9E4F-6ABC-AE30-4FAE4BD3DE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2894" y="1587500"/>
            <a:ext cx="10364685" cy="460319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E1D19DE-0E63-4BB3-ACB7-40020BC007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7016" y="2731205"/>
            <a:ext cx="2527629" cy="1557519"/>
          </a:xfrm>
          <a:noFill/>
        </p:spPr>
        <p:txBody>
          <a:bodyPr wrap="square" lIns="180000" tIns="180000" rIns="180000" anchor="ctr" anchorCtr="0">
            <a:spAutoFit/>
          </a:bodyPr>
          <a:lstStyle>
            <a:lvl1pPr marL="0" indent="0" algn="ctr">
              <a:buNone/>
              <a:defRPr sz="96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5DE431D5-EC06-AE25-6237-8F42069DB7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23141" y="2802248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id="{17701089-A10C-D1B7-B05E-A88CC35ACAC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73655" y="2799000"/>
            <a:ext cx="2520000" cy="1557519"/>
          </a:xfrm>
          <a:noFill/>
        </p:spPr>
        <p:txBody>
          <a:bodyPr lIns="180000" tIns="180000" rIns="180000">
            <a:spAutoFit/>
          </a:bodyPr>
          <a:lstStyle>
            <a:lvl1pPr marL="0" indent="0" algn="ctr">
              <a:buNone/>
              <a:defRPr sz="9600"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lvl="0"/>
            <a:r>
              <a:rPr lang="ru-RU" dirty="0"/>
              <a:t>130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68DE65-5D9A-D774-3945-8C36D7CDE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6" name="Номер слайда 15">
            <a:extLst>
              <a:ext uri="{FF2B5EF4-FFF2-40B4-BE49-F238E27FC236}">
                <a16:creationId xmlns:a16="http://schemas.microsoft.com/office/drawing/2014/main" id="{33AD159A-11A0-E0BA-2C4E-57164A49D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23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5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3635" y="1587500"/>
            <a:ext cx="10874687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53635" y="2810152"/>
            <a:ext cx="10874687" cy="3096662"/>
          </a:xfrm>
        </p:spPr>
        <p:txBody>
          <a:bodyPr>
            <a:normAutofit/>
          </a:bodyPr>
          <a:lstStyle>
            <a:lvl1pPr marL="0" indent="0">
              <a:buNone/>
              <a:defRPr sz="1300"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0DB6D4-1800-C49D-0251-B63483B611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E6960F9-2179-6F73-3556-AE00C18C2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93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6540445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таблицы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7" y="2312988"/>
            <a:ext cx="6540445" cy="3593826"/>
          </a:xfrm>
        </p:spPr>
        <p:txBody>
          <a:bodyPr>
            <a:normAutofit/>
          </a:bodyPr>
          <a:lstStyle>
            <a:lvl1pPr marL="0" indent="0">
              <a:buNone/>
              <a:defRPr sz="1300"/>
            </a:lvl1pPr>
          </a:lstStyle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06B59C8-1CAD-A3F3-C979-8E320EBC04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5506" y="2312988"/>
            <a:ext cx="3782817" cy="202369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704321-D24B-D33A-3984-67AEE0DCAE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6C973110-5558-52F7-903A-AA8763B87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2E1424E2-CDC8-F652-1D5E-533CBCD9D8A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20611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ли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A491D33C-A849-A301-EE3C-870CD381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3677" y="6234521"/>
            <a:ext cx="2743200" cy="365125"/>
          </a:xfrm>
          <a:prstGeom prst="rect">
            <a:avLst/>
          </a:prstGeom>
        </p:spPr>
        <p:txBody>
          <a:bodyPr/>
          <a:lstStyle/>
          <a:p>
            <a:fld id="{222374EE-8794-0942-8879-EA9673CC0269}" type="datetimeFigureOut">
              <a:rPr lang="ru-RU" smtClean="0"/>
              <a:t>19.01.2026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41A0BF-985C-E34C-F446-609CC11DF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Текст 12">
            <a:extLst>
              <a:ext uri="{FF2B5EF4-FFF2-40B4-BE49-F238E27FC236}">
                <a16:creationId xmlns:a16="http://schemas.microsoft.com/office/drawing/2014/main" id="{8273A067-E2DD-A4F9-098B-CC3E4C56A8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F00A7AD3-9C1D-3042-117E-E7CC7320C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79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">
    <p:bg>
      <p:bgPr>
        <a:gradFill>
          <a:gsLst>
            <a:gs pos="0">
              <a:srgbClr val="000000"/>
            </a:gs>
            <a:gs pos="67000">
              <a:srgbClr val="008281"/>
            </a:gs>
            <a:gs pos="100000">
              <a:srgbClr val="0095B9"/>
            </a:gs>
            <a:gs pos="28000">
              <a:srgbClr val="2C4A5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787" y="2075153"/>
            <a:ext cx="8882280" cy="2233945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7" y="4782847"/>
            <a:ext cx="8882062" cy="313932"/>
          </a:xfr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E0FD4F-375E-2AAE-3C38-03D550043C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Дата 17">
            <a:extLst>
              <a:ext uri="{FF2B5EF4-FFF2-40B4-BE49-F238E27FC236}">
                <a16:creationId xmlns:a16="http://schemas.microsoft.com/office/drawing/2014/main" id="{81A297E0-D129-2ED6-CF4D-2D31732C870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165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8" y="2263775"/>
            <a:ext cx="2586037" cy="6238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0927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7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492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97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492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97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492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7624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  <p15:guide id="2" pos="3522" userDrawn="1">
          <p15:clr>
            <a:srgbClr val="FBAE40"/>
          </p15:clr>
        </p15:guide>
        <p15:guide id="3" pos="422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D1B60-9A68-E892-F966-C4904C5F07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2D763327-90C2-D68E-DE96-AA2C30C47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5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2265B2E-87B2-505C-6391-DF4D46B1A031}"/>
              </a:ext>
            </a:extLst>
          </p:cNvPr>
          <p:cNvSpPr/>
          <p:nvPr userDrawn="1"/>
        </p:nvSpPr>
        <p:spPr>
          <a:xfrm rot="10800000">
            <a:off x="0" y="4220927"/>
            <a:ext cx="12191999" cy="2637072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DDAD94B-7B7D-D7C7-98A6-A94F680C6B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456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1"/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11AF022-8824-C683-01BD-F5A9C01071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106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проекта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3FC43593-B5DA-B382-3F2E-9F3A76192C65}"/>
              </a:ext>
            </a:extLst>
          </p:cNvPr>
          <p:cNvCxnSpPr>
            <a:cxnSpLocks/>
          </p:cNvCxnSpPr>
          <p:nvPr userDrawn="1"/>
        </p:nvCxnSpPr>
        <p:spPr>
          <a:xfrm>
            <a:off x="3888271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7">
            <a:extLst>
              <a:ext uri="{FF2B5EF4-FFF2-40B4-BE49-F238E27FC236}">
                <a16:creationId xmlns:a16="http://schemas.microsoft.com/office/drawing/2014/main" id="{6CD5038C-6459-7CE4-B2D4-343CC39C3F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1337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первого пункта. </a:t>
            </a:r>
          </a:p>
        </p:txBody>
      </p:sp>
      <p:sp>
        <p:nvSpPr>
          <p:cNvPr id="22" name="Текст 11">
            <a:extLst>
              <a:ext uri="{FF2B5EF4-FFF2-40B4-BE49-F238E27FC236}">
                <a16:creationId xmlns:a16="http://schemas.microsoft.com/office/drawing/2014/main" id="{14BBCA84-70EE-7A3E-F739-07DA45CDD4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492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1"/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3" name="Текст 12">
            <a:extLst>
              <a:ext uri="{FF2B5EF4-FFF2-40B4-BE49-F238E27FC236}">
                <a16:creationId xmlns:a16="http://schemas.microsoft.com/office/drawing/2014/main" id="{F7B79BBD-2CB7-0935-D680-D7B59CF03D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7142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Структура</a:t>
            </a:r>
          </a:p>
        </p:txBody>
      </p:sp>
      <p:sp>
        <p:nvSpPr>
          <p:cNvPr id="24" name="Текст 7">
            <a:extLst>
              <a:ext uri="{FF2B5EF4-FFF2-40B4-BE49-F238E27FC236}">
                <a16:creationId xmlns:a16="http://schemas.microsoft.com/office/drawing/2014/main" id="{E2F7B3D6-4F37-ED0E-5242-97B8F2250E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31373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второго пункта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63FA8D1-CE5A-FBF5-DEA5-48D77A7DFF32}"/>
              </a:ext>
            </a:extLst>
          </p:cNvPr>
          <p:cNvCxnSpPr>
            <a:cxnSpLocks/>
          </p:cNvCxnSpPr>
          <p:nvPr userDrawn="1"/>
        </p:nvCxnSpPr>
        <p:spPr>
          <a:xfrm>
            <a:off x="8001762" y="2509203"/>
            <a:ext cx="0" cy="3358197"/>
          </a:xfrm>
          <a:prstGeom prst="line">
            <a:avLst/>
          </a:prstGeom>
          <a:ln w="12700">
            <a:solidFill>
              <a:srgbClr val="3880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Текст 11">
            <a:extLst>
              <a:ext uri="{FF2B5EF4-FFF2-40B4-BE49-F238E27FC236}">
                <a16:creationId xmlns:a16="http://schemas.microsoft.com/office/drawing/2014/main" id="{6AB9EB52-D74E-4563-60BE-54F0483FCA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0814" y="1779588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1"/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8" name="Текст 12">
            <a:extLst>
              <a:ext uri="{FF2B5EF4-FFF2-40B4-BE49-F238E27FC236}">
                <a16:creationId xmlns:a16="http://schemas.microsoft.com/office/drawing/2014/main" id="{FCCE6D10-E112-3C42-9C0E-48C4ECAE8A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30464" y="2934161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Выводы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C96CD779-A8E7-DF45-7E82-9956FD008A1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04695" y="3500810"/>
            <a:ext cx="2291255" cy="2366590"/>
          </a:xfrm>
          <a:solidFill>
            <a:schemeClr val="bg1"/>
          </a:solidFill>
        </p:spPr>
        <p:txBody>
          <a:bodyPr anchor="t" anchorCtr="0">
            <a:no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 вашего третьего пункта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FFBB254-593B-691B-C806-57E38AB334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10" name="Номер слайда 15">
            <a:extLst>
              <a:ext uri="{FF2B5EF4-FFF2-40B4-BE49-F238E27FC236}">
                <a16:creationId xmlns:a16="http://schemas.microsoft.com/office/drawing/2014/main" id="{F5775B5E-E1A4-95FA-BEBD-E988710FF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860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ка с названиями разделов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0F5B0D-CF0B-9157-2EB4-79FFB3788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19982" y="6072973"/>
            <a:ext cx="473413" cy="276999"/>
          </a:xfrm>
          <a:prstGeom prst="rect">
            <a:avLst/>
          </a:prstGeom>
        </p:spPr>
        <p:txBody>
          <a:bodyPr/>
          <a:lstStyle/>
          <a:p>
            <a:fld id="{E10D0329-78C6-364C-97E0-9B31F532BD2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60080D-CF73-56AC-39E3-27849148E458}"/>
              </a:ext>
            </a:extLst>
          </p:cNvPr>
          <p:cNvSpPr/>
          <p:nvPr userDrawn="1"/>
        </p:nvSpPr>
        <p:spPr>
          <a:xfrm rot="10800000">
            <a:off x="4682832" y="3779519"/>
            <a:ext cx="7509164" cy="3078479"/>
          </a:xfrm>
          <a:prstGeom prst="rect">
            <a:avLst/>
          </a:prstGeom>
          <a:solidFill>
            <a:srgbClr val="2465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EE4807-5ACC-97C6-A0F3-8C2EF21FCEE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82832" y="0"/>
            <a:ext cx="7509168" cy="484505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sp>
        <p:nvSpPr>
          <p:cNvPr id="21" name="Текст 11">
            <a:extLst>
              <a:ext uri="{FF2B5EF4-FFF2-40B4-BE49-F238E27FC236}">
                <a16:creationId xmlns:a16="http://schemas.microsoft.com/office/drawing/2014/main" id="{96D6A900-81DF-7B96-1B56-9CC594769A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524812"/>
            <a:ext cx="1377822" cy="963612"/>
          </a:xfrm>
        </p:spPr>
        <p:txBody>
          <a:bodyPr>
            <a:noAutofit/>
          </a:bodyPr>
          <a:lstStyle>
            <a:lvl1pPr marL="0" indent="0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11">
            <a:extLst>
              <a:ext uri="{FF2B5EF4-FFF2-40B4-BE49-F238E27FC236}">
                <a16:creationId xmlns:a16="http://schemas.microsoft.com/office/drawing/2014/main" id="{9DFF7239-4C78-3141-2F5D-EC5D007809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1561160"/>
            <a:ext cx="1780154" cy="729933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</a:t>
            </a:r>
          </a:p>
        </p:txBody>
      </p:sp>
      <p:sp>
        <p:nvSpPr>
          <p:cNvPr id="24" name="Текст 12">
            <a:extLst>
              <a:ext uri="{FF2B5EF4-FFF2-40B4-BE49-F238E27FC236}">
                <a16:creationId xmlns:a16="http://schemas.microsoft.com/office/drawing/2014/main" id="{5157821A-E31A-1DA2-F2F6-BDA02D934C8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6109479"/>
            <a:ext cx="229125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688183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орожная карта">
    <p:bg>
      <p:bgPr>
        <a:gradFill>
          <a:gsLst>
            <a:gs pos="28000">
              <a:srgbClr val="2C4A56"/>
            </a:gs>
            <a:gs pos="66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5B8A6F-F372-A907-4708-C3DF7AE989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Текст 12">
            <a:extLst>
              <a:ext uri="{FF2B5EF4-FFF2-40B4-BE49-F238E27FC236}">
                <a16:creationId xmlns:a16="http://schemas.microsoft.com/office/drawing/2014/main" id="{459988E1-FA3E-8C21-A491-23ABD9D2536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8" y="1587500"/>
            <a:ext cx="10864644" cy="3970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Номер слайда 15">
            <a:extLst>
              <a:ext uri="{FF2B5EF4-FFF2-40B4-BE49-F238E27FC236}">
                <a16:creationId xmlns:a16="http://schemas.microsoft.com/office/drawing/2014/main" id="{30F9FDCB-2614-BECF-220C-30A863B30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773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 userDrawn="1">
          <p15:clr>
            <a:srgbClr val="FBAE40"/>
          </p15:clr>
        </p15:guide>
        <p15:guide id="2" orient="horz" pos="98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то">
    <p:bg>
      <p:bgPr>
        <a:gradFill>
          <a:gsLst>
            <a:gs pos="28000">
              <a:srgbClr val="2C4A56"/>
            </a:gs>
            <a:gs pos="67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Рисунок 2">
            <a:extLst>
              <a:ext uri="{FF2B5EF4-FFF2-40B4-BE49-F238E27FC236}">
                <a16:creationId xmlns:a16="http://schemas.microsoft.com/office/drawing/2014/main" id="{1ACF12DD-0868-7CC5-CE63-9AFAE338C2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0931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7537BE1-2EDB-9706-C603-2A7221719E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53254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ru-RU"/>
          </a:p>
        </p:txBody>
      </p:sp>
      <p:sp>
        <p:nvSpPr>
          <p:cNvPr id="32" name="Рисунок 2">
            <a:extLst>
              <a:ext uri="{FF2B5EF4-FFF2-40B4-BE49-F238E27FC236}">
                <a16:creationId xmlns:a16="http://schemas.microsoft.com/office/drawing/2014/main" id="{906AB357-4993-33E4-9A89-9A240E78D8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5577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ru-RU"/>
          </a:p>
        </p:txBody>
      </p:sp>
      <p:sp>
        <p:nvSpPr>
          <p:cNvPr id="38" name="Текст 12">
            <a:extLst>
              <a:ext uri="{FF2B5EF4-FFF2-40B4-BE49-F238E27FC236}">
                <a16:creationId xmlns:a16="http://schemas.microsoft.com/office/drawing/2014/main" id="{B983AE61-0AA8-23E6-DFD5-2165B98C7B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520" y="1587500"/>
            <a:ext cx="10848549" cy="460319"/>
          </a:xfrm>
          <a:noFill/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Расскажите, кто работал над проектом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4A0E1521-0DA0-4BAA-4F7C-4566AD71DC2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297899" y="2390394"/>
            <a:ext cx="2213170" cy="2580618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ru-RU" dirty="0"/>
          </a:p>
        </p:txBody>
      </p:sp>
      <p:sp>
        <p:nvSpPr>
          <p:cNvPr id="40" name="Текст 12">
            <a:extLst>
              <a:ext uri="{FF2B5EF4-FFF2-40B4-BE49-F238E27FC236}">
                <a16:creationId xmlns:a16="http://schemas.microsoft.com/office/drawing/2014/main" id="{7137556A-C221-613A-93EF-37157AE967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2520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1" name="Текст 12">
            <a:extLst>
              <a:ext uri="{FF2B5EF4-FFF2-40B4-BE49-F238E27FC236}">
                <a16:creationId xmlns:a16="http://schemas.microsoft.com/office/drawing/2014/main" id="{17DD7097-3FB2-D514-0F2C-216F37394E4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3254" y="5156623"/>
            <a:ext cx="2231581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2" name="Текст 12">
            <a:extLst>
              <a:ext uri="{FF2B5EF4-FFF2-40B4-BE49-F238E27FC236}">
                <a16:creationId xmlns:a16="http://schemas.microsoft.com/office/drawing/2014/main" id="{D0475521-CC95-4A4C-9F6B-55FF4EA4F3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439" y="5156623"/>
            <a:ext cx="2231581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3" name="Текст 12">
            <a:extLst>
              <a:ext uri="{FF2B5EF4-FFF2-40B4-BE49-F238E27FC236}">
                <a16:creationId xmlns:a16="http://schemas.microsoft.com/office/drawing/2014/main" id="{D14820D0-FE4A-AF21-45DA-F47A99B64A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75637" y="5156621"/>
            <a:ext cx="2253843" cy="313930"/>
          </a:xfrm>
        </p:spPr>
        <p:txBody>
          <a:bodyPr wrap="square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Ф.И.О</a:t>
            </a:r>
          </a:p>
        </p:txBody>
      </p:sp>
      <p:sp>
        <p:nvSpPr>
          <p:cNvPr id="44" name="Текст 7">
            <a:extLst>
              <a:ext uri="{FF2B5EF4-FFF2-40B4-BE49-F238E27FC236}">
                <a16:creationId xmlns:a16="http://schemas.microsoft.com/office/drawing/2014/main" id="{260F9194-3969-9DC0-90E7-C20379AAEB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2520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5" name="Текст 7">
            <a:extLst>
              <a:ext uri="{FF2B5EF4-FFF2-40B4-BE49-F238E27FC236}">
                <a16:creationId xmlns:a16="http://schemas.microsoft.com/office/drawing/2014/main" id="{7C3B3227-37CB-BD57-4CC0-F5E90B5057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53254" y="5573430"/>
            <a:ext cx="2231585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7B8BD791-C7F0-0975-37C3-027083087E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13388" y="5573430"/>
            <a:ext cx="2231585" cy="230832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53168EF1-B60A-578C-4947-CF6D23B81E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70586" y="5573428"/>
            <a:ext cx="2253847" cy="230831"/>
          </a:xfrm>
        </p:spPr>
        <p:txBody>
          <a:bodyPr wrap="square" anchor="ctr">
            <a:sp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Укажите должность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2DE09F-4E0D-56B5-AD16-62B9DE4520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5B993518-82DC-2301-79ED-421B8F054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170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10829718" cy="43858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F6A049-8C07-F93E-6208-1A0C12AC09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9304" y="2959908"/>
            <a:ext cx="5432323" cy="2310591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FADCB530-8DB1-2804-7FB5-5ADB7604A4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52356" y="2959908"/>
            <a:ext cx="4675967" cy="2310592"/>
          </a:xfrm>
          <a:solidFill>
            <a:srgbClr val="006B80"/>
          </a:solidFill>
        </p:spPr>
        <p:txBody>
          <a:bodyPr wrap="square" lIns="216000" tIns="144000" rIns="216000" bIns="180000">
            <a:spAutoFit/>
          </a:bodyPr>
          <a:lstStyle>
            <a:lvl1pPr marL="0" indent="0">
              <a:lnSpc>
                <a:spcPts val="2600"/>
              </a:lnSpc>
              <a:buNone/>
              <a:defRPr sz="20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</a:lstStyle>
          <a:p>
            <a:pPr lvl="0"/>
            <a:r>
              <a:rPr lang="ru-RU" dirty="0"/>
              <a:t>Небольшую фразу, с важной информацией, можно выделить, набрав ее более крупным кеглем, чем обычный текст. Делать это часто не рекомендуется.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1CACCC-13E8-DBE0-7C62-6205A805B4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96C9BAAB-0B48-BB83-54EF-4D52E2FEB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E70C37DC-B69D-0019-D5AB-4D70D5C0CA3A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71271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7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0" y="1587500"/>
            <a:ext cx="4999962" cy="386018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5" name="Текст 12">
            <a:extLst>
              <a:ext uri="{FF2B5EF4-FFF2-40B4-BE49-F238E27FC236}">
                <a16:creationId xmlns:a16="http://schemas.microsoft.com/office/drawing/2014/main" id="{24EFB944-A43E-5094-3DAF-E1E859FDEB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5432322" cy="838435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730E40BA-2C0A-FF73-4585-67B5745AD8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3180333"/>
            <a:ext cx="5432322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E35F19-D45E-FBB3-95EB-DBCD02B887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9" name="Номер слайда 15">
            <a:extLst>
              <a:ext uri="{FF2B5EF4-FFF2-40B4-BE49-F238E27FC236}">
                <a16:creationId xmlns:a16="http://schemas.microsoft.com/office/drawing/2014/main" id="{431EE7DD-7536-64D9-1267-94F795CCA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id="{079C0050-868F-4C25-90FA-4D612A825576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876128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График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12">
            <a:extLst>
              <a:ext uri="{FF2B5EF4-FFF2-40B4-BE49-F238E27FC236}">
                <a16:creationId xmlns:a16="http://schemas.microsoft.com/office/drawing/2014/main" id="{B631E264-9081-C27F-E885-3A8AF464EF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500"/>
            <a:ext cx="5432321" cy="885948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2120"/>
              </a:lnSpc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графика. Обратите внимание, что название графика набирается меньшим кеглем,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Диаграмма 7">
            <a:extLst>
              <a:ext uri="{FF2B5EF4-FFF2-40B4-BE49-F238E27FC236}">
                <a16:creationId xmlns:a16="http://schemas.microsoft.com/office/drawing/2014/main" id="{F42D0D22-5822-486C-BF85-59A4E99B2752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528361" y="1587500"/>
            <a:ext cx="4999960" cy="45000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id="{4B8025BF-9B54-7CE5-29B3-A0B3BF2706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9" y="3165150"/>
            <a:ext cx="5432321" cy="2267352"/>
          </a:xfrm>
          <a:solidFill>
            <a:schemeClr val="bg1"/>
          </a:solidFill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Небольшие куски текста (13 </a:t>
            </a:r>
            <a:r>
              <a:rPr lang="en-US" dirty="0" err="1"/>
              <a:t>pt</a:t>
            </a:r>
            <a:r>
              <a:rPr lang="ru-RU" dirty="0"/>
              <a:t>) можно набирать в одну колонку, но не делайте колонку на всю ширину экрана. Текст, трудно читать, подумайте о тех, кто будет читать вашу презентацию.  Старайтесь чтобы в строке было в среднем семь-десять слов. Большее количество слов в строке способствует хорошему сну, но не чтению. 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6D2643-1EB5-B442-9E07-77428A3FAB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4B431C96-BFCD-31E4-E660-36C54D80A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10CA706A-2F49-9F50-D99F-02BD8CEE7F4B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4288553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12">
            <a:extLst>
              <a:ext uri="{FF2B5EF4-FFF2-40B4-BE49-F238E27FC236}">
                <a16:creationId xmlns:a16="http://schemas.microsoft.com/office/drawing/2014/main" id="{C885C1C6-4C52-45F0-E913-B2F3FB4201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9" y="1587500"/>
            <a:ext cx="10864644" cy="616644"/>
          </a:xfrm>
        </p:spPr>
        <p:txBody>
          <a:bodyPr wrap="square">
            <a:spAutoFit/>
          </a:bodyPr>
          <a:lstStyle>
            <a:lvl1pPr marL="0" indent="0">
              <a:lnSpc>
                <a:spcPts val="2100"/>
              </a:lnSpc>
              <a:buNone/>
              <a:defRPr sz="16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кегелем, чем 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FD8DBD53-68FA-96BF-7192-20199BFA77A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63679" y="2810152"/>
            <a:ext cx="10864644" cy="3096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DA831B-A00C-A434-F7C7-19B550A0C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A22EF14B-EAEE-525E-7745-9352116BF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6446F7E1-5D26-B251-E268-1FDA4BEC48C1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61246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еребивка">
    <p:bg>
      <p:bgPr>
        <a:gradFill>
          <a:gsLst>
            <a:gs pos="28000">
              <a:srgbClr val="2C4A56"/>
            </a:gs>
            <a:gs pos="68000">
              <a:srgbClr val="008281"/>
            </a:gs>
            <a:gs pos="100000">
              <a:srgbClr val="0095B9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4">
            <a:extLst>
              <a:ext uri="{FF2B5EF4-FFF2-40B4-BE49-F238E27FC236}">
                <a16:creationId xmlns:a16="http://schemas.microsoft.com/office/drawing/2014/main" id="{9094284A-9571-328C-7F91-9E86A16E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1831770"/>
            <a:ext cx="10864646" cy="2233945"/>
          </a:xfrm>
        </p:spPr>
        <p:txBody>
          <a:bodyPr wrap="square"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Название заголовка</a:t>
            </a:r>
          </a:p>
          <a:p>
            <a:pPr lvl="0"/>
            <a:r>
              <a:rPr lang="ru-RU" dirty="0"/>
              <a:t>может быть набрано в две</a:t>
            </a:r>
          </a:p>
          <a:p>
            <a:pPr lvl="0"/>
            <a:r>
              <a:rPr lang="ru-RU" dirty="0"/>
              <a:t>или три строки (43 </a:t>
            </a:r>
            <a:r>
              <a:rPr lang="en-US" dirty="0" err="1"/>
              <a:t>pt</a:t>
            </a:r>
            <a:r>
              <a:rPr lang="en-US" dirty="0"/>
              <a:t>)</a:t>
            </a:r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494A36B5-B17A-89F3-6C33-AD231EEC47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3677" y="4762764"/>
            <a:ext cx="1086464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68B869-C5CF-C67F-FB0B-0C0383154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6" name="Дата 17">
            <a:extLst>
              <a:ext uri="{FF2B5EF4-FFF2-40B4-BE49-F238E27FC236}">
                <a16:creationId xmlns:a16="http://schemas.microsoft.com/office/drawing/2014/main" id="{CE40F582-3DB9-7612-98AD-E72EB142D67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66367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58691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одержание">
    <p:bg>
      <p:bgPr>
        <a:gradFill>
          <a:gsLst>
            <a:gs pos="26000">
              <a:srgbClr val="2C4A56"/>
            </a:gs>
            <a:gs pos="68000">
              <a:srgbClr val="24937A"/>
            </a:gs>
            <a:gs pos="100000">
              <a:srgbClr val="2CC9B3"/>
            </a:gs>
            <a:gs pos="0">
              <a:srgbClr val="000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4">
            <a:extLst>
              <a:ext uri="{FF2B5EF4-FFF2-40B4-BE49-F238E27FC236}">
                <a16:creationId xmlns:a16="http://schemas.microsoft.com/office/drawing/2014/main" id="{BC94A623-047C-4E86-9ACA-D180D7A7D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677" y="313981"/>
            <a:ext cx="8882280" cy="720710"/>
          </a:xfrm>
        </p:spPr>
        <p:txBody>
          <a:bodyPr>
            <a:spAutoFit/>
          </a:bodyPr>
          <a:lstStyle>
            <a:lvl1pPr marL="0" indent="0">
              <a:lnSpc>
                <a:spcPts val="4860"/>
              </a:lnSpc>
              <a:buNone/>
              <a:defRPr sz="43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C0454C4-32F1-090F-E350-96E64280889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911" y="2263775"/>
            <a:ext cx="2586037" cy="6238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E31E0-8B90-C8ED-D7E0-4DD701C9AA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3594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1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047F0C0C-7F35-AD9D-DE6B-A80201B32C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7912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53DACDD-6D5A-ECBC-05E8-9206D9E72C5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895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1" name="Текст 17">
            <a:extLst>
              <a:ext uri="{FF2B5EF4-FFF2-40B4-BE49-F238E27FC236}">
                <a16:creationId xmlns:a16="http://schemas.microsoft.com/office/drawing/2014/main" id="{427DBD35-D155-C306-B74B-C02504C99B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912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22" name="Текст 19">
            <a:extLst>
              <a:ext uri="{FF2B5EF4-FFF2-40B4-BE49-F238E27FC236}">
                <a16:creationId xmlns:a16="http://schemas.microsoft.com/office/drawing/2014/main" id="{CAC16176-97DD-E159-9D7C-A801ABC27A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895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24" name="Текст 17">
            <a:extLst>
              <a:ext uri="{FF2B5EF4-FFF2-40B4-BE49-F238E27FC236}">
                <a16:creationId xmlns:a16="http://schemas.microsoft.com/office/drawing/2014/main" id="{10AAB062-92FA-A96E-BE1B-799A34FFE5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912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25" name="Текст 19">
            <a:extLst>
              <a:ext uri="{FF2B5EF4-FFF2-40B4-BE49-F238E27FC236}">
                <a16:creationId xmlns:a16="http://schemas.microsoft.com/office/drawing/2014/main" id="{15DDC0F7-1AC7-987A-F2E8-E5C2581F0A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61895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713A26F-331C-578C-6998-EC910B4461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7439" y="2263775"/>
            <a:ext cx="2586037" cy="6238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29" name="Текст 15">
            <a:extLst>
              <a:ext uri="{FF2B5EF4-FFF2-40B4-BE49-F238E27FC236}">
                <a16:creationId xmlns:a16="http://schemas.microsoft.com/office/drawing/2014/main" id="{5DF773CE-18A8-2A19-CE1D-727803C5FA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68578" y="2263775"/>
            <a:ext cx="1466396" cy="623888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Часть 2</a:t>
            </a:r>
          </a:p>
        </p:txBody>
      </p:sp>
      <p:sp>
        <p:nvSpPr>
          <p:cNvPr id="30" name="Текст 17">
            <a:extLst>
              <a:ext uri="{FF2B5EF4-FFF2-40B4-BE49-F238E27FC236}">
                <a16:creationId xmlns:a16="http://schemas.microsoft.com/office/drawing/2014/main" id="{A73BC09A-99BB-D509-5FD3-AFF8CF75F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05589" y="342900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1</a:t>
            </a:r>
          </a:p>
        </p:txBody>
      </p:sp>
      <p:sp>
        <p:nvSpPr>
          <p:cNvPr id="31" name="Текст 19">
            <a:extLst>
              <a:ext uri="{FF2B5EF4-FFF2-40B4-BE49-F238E27FC236}">
                <a16:creationId xmlns:a16="http://schemas.microsoft.com/office/drawing/2014/main" id="{B6C45472-2A07-84F6-7A7E-CB3DAA35AA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215028" y="342900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32" name="Текст 17">
            <a:extLst>
              <a:ext uri="{FF2B5EF4-FFF2-40B4-BE49-F238E27FC236}">
                <a16:creationId xmlns:a16="http://schemas.microsoft.com/office/drawing/2014/main" id="{AA6A5855-88B9-8EBC-7C62-F0621DE670A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05589" y="4175760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2</a:t>
            </a:r>
          </a:p>
        </p:txBody>
      </p:sp>
      <p:sp>
        <p:nvSpPr>
          <p:cNvPr id="33" name="Текст 19">
            <a:extLst>
              <a:ext uri="{FF2B5EF4-FFF2-40B4-BE49-F238E27FC236}">
                <a16:creationId xmlns:a16="http://schemas.microsoft.com/office/drawing/2014/main" id="{012B3383-55F4-A45F-EBB4-B2564902391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215028" y="4175760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34" name="Текст 17">
            <a:extLst>
              <a:ext uri="{FF2B5EF4-FFF2-40B4-BE49-F238E27FC236}">
                <a16:creationId xmlns:a16="http://schemas.microsoft.com/office/drawing/2014/main" id="{188EEADF-F3D3-B121-8D16-2086CF14A4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05589" y="4931004"/>
            <a:ext cx="2360612" cy="427874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Подраздел 3</a:t>
            </a:r>
          </a:p>
        </p:txBody>
      </p:sp>
      <p:sp>
        <p:nvSpPr>
          <p:cNvPr id="35" name="Текст 19">
            <a:extLst>
              <a:ext uri="{FF2B5EF4-FFF2-40B4-BE49-F238E27FC236}">
                <a16:creationId xmlns:a16="http://schemas.microsoft.com/office/drawing/2014/main" id="{7AA7DF9E-F17D-4533-3374-1BB50AA15DF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215028" y="4931004"/>
            <a:ext cx="283894" cy="428625"/>
          </a:xfrm>
        </p:spPr>
        <p:txBody>
          <a:bodyPr>
            <a:norm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86032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pos="3522">
          <p15:clr>
            <a:srgbClr val="FBAE40"/>
          </p15:clr>
        </p15:guide>
        <p15:guide id="3" pos="42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53612703-FD86-570B-3275-F691C271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11A5AEA-FFAD-41CA-929E-14353DFAE1F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931025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57C20-ED1C-FEC6-3202-F165C8F248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390" y="630630"/>
            <a:ext cx="5763155" cy="5442343"/>
          </a:xfrm>
          <a:prstGeom prst="rect">
            <a:avLst/>
          </a:prstGeom>
        </p:spPr>
      </p:pic>
      <p:sp>
        <p:nvSpPr>
          <p:cNvPr id="10" name="Текст 12">
            <a:extLst>
              <a:ext uri="{FF2B5EF4-FFF2-40B4-BE49-F238E27FC236}">
                <a16:creationId xmlns:a16="http://schemas.microsoft.com/office/drawing/2014/main" id="{38ED1C70-A289-8FEC-0DC4-2A53874199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09" y="256617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1236EF-B601-63D9-7A91-E49C3FBAFF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913" y="1127866"/>
            <a:ext cx="2194122" cy="698987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82C1194-D027-6467-5335-A098DD613955}"/>
              </a:ext>
            </a:extLst>
          </p:cNvPr>
          <p:cNvCxnSpPr>
            <a:cxnSpLocks/>
          </p:cNvCxnSpPr>
          <p:nvPr userDrawn="1"/>
        </p:nvCxnSpPr>
        <p:spPr>
          <a:xfrm>
            <a:off x="1000747" y="4588933"/>
            <a:ext cx="45751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16">
            <a:extLst>
              <a:ext uri="{FF2B5EF4-FFF2-40B4-BE49-F238E27FC236}">
                <a16:creationId xmlns:a16="http://schemas.microsoft.com/office/drawing/2014/main" id="{04349D8E-8857-EEDA-AF25-B331F45326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797" y="4782847"/>
            <a:ext cx="4731956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Можно добавить подзаголовок (16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336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D83C60-A32F-4FDE-1B2A-C9DF11EFFF2E}"/>
              </a:ext>
            </a:extLst>
          </p:cNvPr>
          <p:cNvSpPr/>
          <p:nvPr userDrawn="1"/>
        </p:nvSpPr>
        <p:spPr>
          <a:xfrm>
            <a:off x="7917366" y="-1"/>
            <a:ext cx="4274634" cy="5241073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Текст 12">
            <a:extLst>
              <a:ext uri="{FF2B5EF4-FFF2-40B4-BE49-F238E27FC236}">
                <a16:creationId xmlns:a16="http://schemas.microsoft.com/office/drawing/2014/main" id="{CDBD6F4F-DB41-86A9-9D4B-5BF51331D18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808922"/>
            <a:ext cx="4733544" cy="10064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(22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E4F7B79-15D5-AC50-10F8-333EAC760C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265" y="3162277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4C974DFC-42A4-A47D-F290-70EC795DB3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677" y="4138872"/>
            <a:ext cx="921327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200+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DF272166-97D5-2FC7-A37A-6DFC1BC52E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65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Текст 12">
            <a:extLst>
              <a:ext uri="{FF2B5EF4-FFF2-40B4-BE49-F238E27FC236}">
                <a16:creationId xmlns:a16="http://schemas.microsoft.com/office/drawing/2014/main" id="{A19E4183-BF02-3048-BBEF-43ACC99604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00246" y="4138872"/>
            <a:ext cx="921327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85+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1F6EE849-B442-CEE1-7339-B2630AD527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01834" y="4619391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5" name="Текст 12">
            <a:extLst>
              <a:ext uri="{FF2B5EF4-FFF2-40B4-BE49-F238E27FC236}">
                <a16:creationId xmlns:a16="http://schemas.microsoft.com/office/drawing/2014/main" id="{2A89C6C3-ECEC-B0CB-0F53-46710E8153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3677" y="5126436"/>
            <a:ext cx="1022131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+10М</a:t>
            </a:r>
          </a:p>
        </p:txBody>
      </p:sp>
      <p:sp>
        <p:nvSpPr>
          <p:cNvPr id="26" name="Текст 16">
            <a:extLst>
              <a:ext uri="{FF2B5EF4-FFF2-40B4-BE49-F238E27FC236}">
                <a16:creationId xmlns:a16="http://schemas.microsoft.com/office/drawing/2014/main" id="{6B159398-75F0-73B6-CC07-64284AC1C5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5265" y="5606955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7" name="Текст 12">
            <a:extLst>
              <a:ext uri="{FF2B5EF4-FFF2-40B4-BE49-F238E27FC236}">
                <a16:creationId xmlns:a16="http://schemas.microsoft.com/office/drawing/2014/main" id="{357EDE18-4F99-EE80-0309-6C08A45ECE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00246" y="5084803"/>
            <a:ext cx="1177728" cy="424732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rgbClr val="007C96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+500К</a:t>
            </a:r>
          </a:p>
        </p:txBody>
      </p:sp>
      <p:sp>
        <p:nvSpPr>
          <p:cNvPr id="28" name="Текст 16">
            <a:extLst>
              <a:ext uri="{FF2B5EF4-FFF2-40B4-BE49-F238E27FC236}">
                <a16:creationId xmlns:a16="http://schemas.microsoft.com/office/drawing/2014/main" id="{1C3A6B48-BBF8-A7D9-0E43-D5A2031969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01834" y="5565322"/>
            <a:ext cx="919739" cy="230832"/>
          </a:xfrm>
        </p:spPr>
        <p:txBody>
          <a:bodyPr wrap="square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3F6AB7-D7C2-C066-72A7-D41CAEAF15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327670" y="1808922"/>
            <a:ext cx="5197477" cy="4028865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062326-3929-A65E-F090-4B29E53072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9579" y="508028"/>
            <a:ext cx="2069684" cy="646776"/>
          </a:xfrm>
          <a:prstGeom prst="rect">
            <a:avLst/>
          </a:prstGeom>
        </p:spPr>
      </p:pic>
      <p:sp>
        <p:nvSpPr>
          <p:cNvPr id="12" name="Номер слайда 15">
            <a:extLst>
              <a:ext uri="{FF2B5EF4-FFF2-40B4-BE49-F238E27FC236}">
                <a16:creationId xmlns:a16="http://schemas.microsoft.com/office/drawing/2014/main" id="{4DD8DB31-0BE3-792E-B142-6AAF536AD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425" y="6234521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>
                <a:solidFill>
                  <a:schemeClr val="accent1">
                    <a:alpha val="60000"/>
                  </a:schemeClr>
                </a:solidFill>
              </a:rPr>
              <a:pPr/>
              <a:t>‹#›</a:t>
            </a:fld>
            <a:endParaRPr lang="ru-RU" dirty="0">
              <a:solidFill>
                <a:schemeClr val="accent1">
                  <a:alpha val="60000"/>
                </a:schemeClr>
              </a:solidFill>
            </a:endParaRPr>
          </a:p>
        </p:txBody>
      </p:sp>
      <p:sp>
        <p:nvSpPr>
          <p:cNvPr id="13" name="Текст 14">
            <a:extLst>
              <a:ext uri="{FF2B5EF4-FFF2-40B4-BE49-F238E27FC236}">
                <a16:creationId xmlns:a16="http://schemas.microsoft.com/office/drawing/2014/main" id="{A68BD283-6E8B-3A12-08CE-4CB91EA7EFEC}"/>
              </a:ext>
            </a:extLst>
          </p:cNvPr>
          <p:cNvSpPr txBox="1">
            <a:spLocks/>
          </p:cNvSpPr>
          <p:nvPr userDrawn="1"/>
        </p:nvSpPr>
        <p:spPr>
          <a:xfrm>
            <a:off x="663677" y="6253809"/>
            <a:ext cx="4932361" cy="31810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ts val="19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 kern="1200">
                <a:solidFill>
                  <a:schemeClr val="accent2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i="0" dirty="0">
                <a:solidFill>
                  <a:schemeClr val="accent1">
                    <a:alpha val="6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Название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233485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CF703383-6A38-0B16-D314-C18F11F7CF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4736522"/>
            <a:ext cx="4733544" cy="1089529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DC04D0-5C98-30BD-5340-D144BE4BB0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2247" y="4736522"/>
            <a:ext cx="745796" cy="745796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4CC4F2-B2FE-5E65-E38F-A57921F319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6052"/>
            <a:ext cx="12192000" cy="3987800"/>
          </a:xfrm>
          <a:pattFill prst="pct3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859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C711E78C-F5A8-4A33-3634-9C6138E043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attFill prst="pct3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DA346A-0BA4-865B-5C4D-CDEF0219AC22}"/>
              </a:ext>
            </a:extLst>
          </p:cNvPr>
          <p:cNvSpPr/>
          <p:nvPr userDrawn="1"/>
        </p:nvSpPr>
        <p:spPr>
          <a:xfrm>
            <a:off x="0" y="3886200"/>
            <a:ext cx="7942987" cy="2971800"/>
          </a:xfrm>
          <a:prstGeom prst="rect">
            <a:avLst/>
          </a:prstGeom>
          <a:solidFill>
            <a:srgbClr val="006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Текст 12">
            <a:extLst>
              <a:ext uri="{FF2B5EF4-FFF2-40B4-BE49-F238E27FC236}">
                <a16:creationId xmlns:a16="http://schemas.microsoft.com/office/drawing/2014/main" id="{CBA99509-0FDB-1109-8EB0-AC523F6FEB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8605" y="4282571"/>
            <a:ext cx="6052457" cy="885371"/>
          </a:xfrm>
          <a:noFill/>
        </p:spPr>
        <p:txBody>
          <a:bodyPr wrap="square">
            <a:sp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Заголовок может быть набран </a:t>
            </a:r>
          </a:p>
          <a:p>
            <a:pPr lvl="0"/>
            <a:r>
              <a:rPr lang="ru-RU" dirty="0"/>
              <a:t>в две или три строки (24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7079AC8F-BDA5-CF7E-09D2-04B3045EBC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0194" y="6169923"/>
            <a:ext cx="4731956" cy="272382"/>
          </a:xfrm>
        </p:spPr>
        <p:txBody>
          <a:bodyPr wrap="square">
            <a:spAutoFit/>
          </a:bodyPr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Сопроводительный текст (13 </a:t>
            </a:r>
            <a:r>
              <a:rPr lang="en-US" dirty="0" err="1"/>
              <a:t>pt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535645BA-D254-415A-4E5B-131614BC4DCF}"/>
              </a:ext>
            </a:extLst>
          </p:cNvPr>
          <p:cNvCxnSpPr>
            <a:cxnSpLocks/>
          </p:cNvCxnSpPr>
          <p:nvPr userDrawn="1"/>
        </p:nvCxnSpPr>
        <p:spPr>
          <a:xfrm>
            <a:off x="698605" y="5611225"/>
            <a:ext cx="724438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81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bg>
      <p:bgPr>
        <a:gradFill>
          <a:gsLst>
            <a:gs pos="100000">
              <a:srgbClr val="22B8B2"/>
            </a:gs>
            <a:gs pos="0">
              <a:srgbClr val="04060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8C623E-C241-4BDB-A330-7D55031F23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24462" y="2096711"/>
            <a:ext cx="5261812" cy="1680472"/>
          </a:xfrm>
          <a:prstGeom prst="rect">
            <a:avLst/>
          </a:prstGeom>
        </p:spPr>
      </p:pic>
      <p:sp>
        <p:nvSpPr>
          <p:cNvPr id="2" name="Дата 17">
            <a:extLst>
              <a:ext uri="{FF2B5EF4-FFF2-40B4-BE49-F238E27FC236}">
                <a16:creationId xmlns:a16="http://schemas.microsoft.com/office/drawing/2014/main" id="{6092913D-CF0C-A3DE-AAD1-87ED5D4AC16B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184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2">
            <a:extLst>
              <a:ext uri="{FF2B5EF4-FFF2-40B4-BE49-F238E27FC236}">
                <a16:creationId xmlns:a16="http://schemas.microsoft.com/office/drawing/2014/main" id="{DAD86C7E-96C3-59A6-04DA-2263357460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677" y="1587499"/>
            <a:ext cx="4932362" cy="845040"/>
          </a:xfrm>
        </p:spPr>
        <p:txBody>
          <a:bodyPr wrap="square"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Дополнительная цветовая гамма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A724595-E54B-7894-A364-C31FD305EA5D}"/>
              </a:ext>
            </a:extLst>
          </p:cNvPr>
          <p:cNvSpPr/>
          <p:nvPr userDrawn="1"/>
        </p:nvSpPr>
        <p:spPr>
          <a:xfrm>
            <a:off x="6801560" y="1492029"/>
            <a:ext cx="1023310" cy="1023310"/>
          </a:xfrm>
          <a:prstGeom prst="ellipse">
            <a:avLst/>
          </a:prstGeom>
          <a:solidFill>
            <a:srgbClr val="24656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246266"/>
              </a:solidFill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C41C454-1974-DD00-E2A1-AFB4F6DFAC3A}"/>
              </a:ext>
            </a:extLst>
          </p:cNvPr>
          <p:cNvSpPr/>
          <p:nvPr userDrawn="1"/>
        </p:nvSpPr>
        <p:spPr>
          <a:xfrm>
            <a:off x="8037149" y="1492029"/>
            <a:ext cx="1023310" cy="1023310"/>
          </a:xfrm>
          <a:prstGeom prst="ellipse">
            <a:avLst/>
          </a:prstGeom>
          <a:solidFill>
            <a:srgbClr val="28727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16B80"/>
              </a:solidFill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AFF353A-2AAA-300D-9427-D01A938EB948}"/>
              </a:ext>
            </a:extLst>
          </p:cNvPr>
          <p:cNvSpPr/>
          <p:nvPr userDrawn="1"/>
        </p:nvSpPr>
        <p:spPr>
          <a:xfrm>
            <a:off x="9272738" y="1492029"/>
            <a:ext cx="1023310" cy="1023310"/>
          </a:xfrm>
          <a:prstGeom prst="ellipse">
            <a:avLst/>
          </a:prstGeom>
          <a:solidFill>
            <a:srgbClr val="1277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98AF"/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3EE7553-4F64-282F-19E1-C2922EC5DABF}"/>
              </a:ext>
            </a:extLst>
          </p:cNvPr>
          <p:cNvSpPr/>
          <p:nvPr userDrawn="1"/>
        </p:nvSpPr>
        <p:spPr>
          <a:xfrm>
            <a:off x="10508327" y="1492029"/>
            <a:ext cx="1023310" cy="1023310"/>
          </a:xfrm>
          <a:prstGeom prst="ellipse">
            <a:avLst/>
          </a:prstGeom>
          <a:solidFill>
            <a:srgbClr val="355CA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8513F603-CB6D-5449-4E76-1B690BD59963}"/>
              </a:ext>
            </a:extLst>
          </p:cNvPr>
          <p:cNvSpPr/>
          <p:nvPr userDrawn="1"/>
        </p:nvSpPr>
        <p:spPr>
          <a:xfrm>
            <a:off x="6801560" y="2784461"/>
            <a:ext cx="1023310" cy="1023310"/>
          </a:xfrm>
          <a:prstGeom prst="ellipse">
            <a:avLst/>
          </a:prstGeom>
          <a:solidFill>
            <a:srgbClr val="016B8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AD372B40-B018-4BBB-E184-A6ECD132D20C}"/>
              </a:ext>
            </a:extLst>
          </p:cNvPr>
          <p:cNvSpPr/>
          <p:nvPr userDrawn="1"/>
        </p:nvSpPr>
        <p:spPr>
          <a:xfrm>
            <a:off x="8037149" y="2784461"/>
            <a:ext cx="1023310" cy="1023310"/>
          </a:xfrm>
          <a:prstGeom prst="ellipse">
            <a:avLst/>
          </a:prstGeom>
          <a:solidFill>
            <a:srgbClr val="00778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F0FA369-E4E7-CEB0-07B4-BA07221EC37A}"/>
              </a:ext>
            </a:extLst>
          </p:cNvPr>
          <p:cNvSpPr/>
          <p:nvPr userDrawn="1"/>
        </p:nvSpPr>
        <p:spPr>
          <a:xfrm>
            <a:off x="9272738" y="2784461"/>
            <a:ext cx="1023310" cy="1023310"/>
          </a:xfrm>
          <a:prstGeom prst="ellipse">
            <a:avLst/>
          </a:prstGeom>
          <a:solidFill>
            <a:srgbClr val="A4A4A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8B864286-21DA-C21B-0192-D03BFC2BDD13}"/>
              </a:ext>
            </a:extLst>
          </p:cNvPr>
          <p:cNvSpPr/>
          <p:nvPr userDrawn="1"/>
        </p:nvSpPr>
        <p:spPr>
          <a:xfrm>
            <a:off x="10508327" y="2784461"/>
            <a:ext cx="1023310" cy="1023310"/>
          </a:xfrm>
          <a:prstGeom prst="ellipse">
            <a:avLst/>
          </a:prstGeom>
          <a:solidFill>
            <a:srgbClr val="D80E1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20958037-1B1C-64D7-DF61-F80579D9385D}"/>
              </a:ext>
            </a:extLst>
          </p:cNvPr>
          <p:cNvSpPr/>
          <p:nvPr userDrawn="1"/>
        </p:nvSpPr>
        <p:spPr>
          <a:xfrm>
            <a:off x="6801560" y="4148274"/>
            <a:ext cx="1023310" cy="1023310"/>
          </a:xfrm>
          <a:prstGeom prst="ellipse">
            <a:avLst/>
          </a:prstGeom>
          <a:solidFill>
            <a:srgbClr val="0098A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2A26C9BE-63B6-D240-E393-B5DA4691C556}"/>
              </a:ext>
            </a:extLst>
          </p:cNvPr>
          <p:cNvSpPr/>
          <p:nvPr userDrawn="1"/>
        </p:nvSpPr>
        <p:spPr>
          <a:xfrm>
            <a:off x="8037149" y="4148274"/>
            <a:ext cx="1023310" cy="1023310"/>
          </a:xfrm>
          <a:prstGeom prst="ellipse">
            <a:avLst/>
          </a:prstGeom>
          <a:solidFill>
            <a:srgbClr val="00A3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573900E1-2529-EE1D-3D2C-7F2E05AA75B2}"/>
              </a:ext>
            </a:extLst>
          </p:cNvPr>
          <p:cNvSpPr/>
          <p:nvPr userDrawn="1"/>
        </p:nvSpPr>
        <p:spPr>
          <a:xfrm>
            <a:off x="9272738" y="4148274"/>
            <a:ext cx="1023310" cy="1023310"/>
          </a:xfrm>
          <a:prstGeom prst="ellipse">
            <a:avLst/>
          </a:prstGeom>
          <a:solidFill>
            <a:srgbClr val="BFBFB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F4E219E2-0CC8-9D36-3764-C24E7B31DA42}"/>
              </a:ext>
            </a:extLst>
          </p:cNvPr>
          <p:cNvSpPr/>
          <p:nvPr userDrawn="1"/>
        </p:nvSpPr>
        <p:spPr>
          <a:xfrm>
            <a:off x="10508327" y="4148274"/>
            <a:ext cx="1023310" cy="1023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14">
            <a:extLst>
              <a:ext uri="{FF2B5EF4-FFF2-40B4-BE49-F238E27FC236}">
                <a16:creationId xmlns:a16="http://schemas.microsoft.com/office/drawing/2014/main" id="{0039ED59-78B1-FB5D-014E-59FF9DB56C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677" y="2950638"/>
            <a:ext cx="4932362" cy="1292726"/>
          </a:xfrm>
        </p:spPr>
        <p:txBody>
          <a:bodyPr wrap="square">
            <a:spAutoFit/>
          </a:bodyPr>
          <a:lstStyle>
            <a:lvl1pPr marL="0" indent="0">
              <a:lnSpc>
                <a:spcPts val="1900"/>
              </a:lnSpc>
              <a:buNone/>
              <a:defRPr sz="1300"/>
            </a:lvl1pPr>
          </a:lstStyle>
          <a:p>
            <a:pPr lvl="0"/>
            <a:r>
              <a:rPr lang="ru-RU" dirty="0"/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</a:t>
            </a:r>
            <a:r>
              <a:rPr lang="ru-RU" dirty="0" err="1"/>
              <a:t>Финунивера</a:t>
            </a:r>
            <a:r>
              <a:rPr lang="ru-RU" dirty="0"/>
              <a:t> для этих целей.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89E517-1EA3-514B-CF7B-7CEE29B3C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5" name="Номер слайда 15">
            <a:extLst>
              <a:ext uri="{FF2B5EF4-FFF2-40B4-BE49-F238E27FC236}">
                <a16:creationId xmlns:a16="http://schemas.microsoft.com/office/drawing/2014/main" id="{B64A6D4E-34E8-DB16-F484-C24EFBF8F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40490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2">
            <a:extLst>
              <a:ext uri="{FF2B5EF4-FFF2-40B4-BE49-F238E27FC236}">
                <a16:creationId xmlns:a16="http://schemas.microsoft.com/office/drawing/2014/main" id="{3F777C1D-C585-81A3-3BF0-C548549D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7840" y="1587499"/>
            <a:ext cx="5257800" cy="460319"/>
          </a:xfrm>
        </p:spPr>
        <p:txBody>
          <a:bodyPr>
            <a:spAutoFit/>
          </a:bodyPr>
          <a:lstStyle>
            <a:lvl1pPr marL="0" indent="0">
              <a:lnSpc>
                <a:spcPts val="3000"/>
              </a:lnSpc>
              <a:buNone/>
              <a:defRPr sz="2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lvl="0"/>
            <a:r>
              <a:rPr lang="ru-RU" dirty="0"/>
              <a:t>Иконки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419737C-B589-8376-6141-AEA0043FC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3677" y="2520959"/>
            <a:ext cx="406400" cy="4064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0E0D83F-89F5-A402-4A48-53D56DC2D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5911" y="2520959"/>
            <a:ext cx="406400" cy="4064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D756C65-502B-48D0-5412-2328EC0BB1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8145" y="2520959"/>
            <a:ext cx="406400" cy="4064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14184E8-FF7A-E6AB-27D5-3FB8C332BC7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10379" y="2520959"/>
            <a:ext cx="406400" cy="4064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B6F7A76-9FE7-4252-225B-0CE16E49CB7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992613" y="2520959"/>
            <a:ext cx="406400" cy="4064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6F4DF9-99E2-ADCA-B96A-B54E4604A99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74847" y="2520959"/>
            <a:ext cx="406400" cy="4064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212A1DE-FD1D-6F08-0997-0D4856FB99C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57081" y="2520959"/>
            <a:ext cx="406400" cy="4064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6F835E9-AF57-F529-45E5-3F753C3322B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739315" y="2520959"/>
            <a:ext cx="406400" cy="4064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CE1A959-A221-26F5-DCB0-9C61C785FAD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21549" y="2520959"/>
            <a:ext cx="406400" cy="4064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DCDEBB6-7AC4-C83A-B266-DB507DEF63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903783" y="2520959"/>
            <a:ext cx="406400" cy="4064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74A6209-9338-EA19-61C5-F584D8C160D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86017" y="2520959"/>
            <a:ext cx="406400" cy="4064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2175E3D-E914-DF1E-F1AF-261A166553A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68251" y="2520959"/>
            <a:ext cx="406400" cy="4064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F0AF86B-127D-971D-C9BC-ECF930B08B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50485" y="2520959"/>
            <a:ext cx="406400" cy="4064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2A068CD-9DE5-06C5-D8B8-A1B04462EFC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232719" y="2520959"/>
            <a:ext cx="406400" cy="4064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CEA7B28-6D26-FB0E-AA06-48B80B565F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814953" y="2520959"/>
            <a:ext cx="406400" cy="4064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5AE56BA5-E304-D997-1B00-537D7B3C2293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397181" y="2520959"/>
            <a:ext cx="406400" cy="4064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4A3E93A-BF09-FCC1-13A1-17B3B362EE6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663677" y="3226839"/>
            <a:ext cx="406400" cy="4064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10EDB24-0947-8377-25B9-238731C51805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248177" y="3226839"/>
            <a:ext cx="406400" cy="4064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879079B-2BF8-6AB3-1C50-55DF65AE89F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832677" y="3226839"/>
            <a:ext cx="406400" cy="4064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FCF16ED-5C59-DD75-D147-15A2481E56B4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417177" y="3226839"/>
            <a:ext cx="406400" cy="4064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C874F50-7D6D-31C2-87FD-41E2DED563FF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001677" y="3226839"/>
            <a:ext cx="406400" cy="4064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5E17476-CDDA-5551-8BF0-55565007C97F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586177" y="3226839"/>
            <a:ext cx="406400" cy="4064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A8AF81D-DE73-E1C9-6AA7-878CBCEDC138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4170677" y="3226839"/>
            <a:ext cx="406400" cy="4064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3790945-A01A-8B7A-4CBC-C94D36ADE34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4755177" y="3226839"/>
            <a:ext cx="406400" cy="4064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E4D77AB-7DDD-B6E7-9590-B4458E0B525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5339677" y="3226839"/>
            <a:ext cx="406400" cy="4064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28F2A8F-F650-4016-4F65-9F3CED8A85F4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5924177" y="3226839"/>
            <a:ext cx="406400" cy="4064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629B5F5-2C5E-9D76-9985-2C9E294B50A1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6508677" y="3226839"/>
            <a:ext cx="406400" cy="4064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38D882B4-446D-D653-F362-06BDD80DFCDA}"/>
              </a:ext>
            </a:extLst>
          </p:cNvPr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093177" y="3226839"/>
            <a:ext cx="406400" cy="4064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9B1A542-C7B0-6C82-2160-DF8EE10CE008}"/>
              </a:ext>
            </a:extLst>
          </p:cNvPr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7677677" y="3226839"/>
            <a:ext cx="406400" cy="4064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C169B5A4-D596-5357-445F-EEC4C4BAB6C9}"/>
              </a:ext>
            </a:extLst>
          </p:cNvPr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8262177" y="3226839"/>
            <a:ext cx="406400" cy="4064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23DC2C80-0713-5610-348B-68E4E867691A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8846677" y="3226839"/>
            <a:ext cx="406400" cy="4064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B2425730-8D6C-D171-F708-7FCCCC023B00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431183" y="3226839"/>
            <a:ext cx="406400" cy="4064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051C49C6-40B7-C63F-15DF-E69664E0B47B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72355" y="3932719"/>
            <a:ext cx="406400" cy="4064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8175D90-F296-0A28-B972-0262643185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56256" y="3932719"/>
            <a:ext cx="406400" cy="4064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55E3835-A83F-09B0-EED6-C5B5AE788C93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840157" y="3932719"/>
            <a:ext cx="406400" cy="4064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0FD3B6F5-8BDB-32AD-0A48-E308D7A81B8C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2424058" y="3932719"/>
            <a:ext cx="406400" cy="4064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4CD9507-898C-58C7-3C6F-CD1D101ECC82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3007959" y="3932719"/>
            <a:ext cx="406400" cy="4064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7C38B5F1-CD80-1689-99A5-DCF308996FC8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3591860" y="3932719"/>
            <a:ext cx="406400" cy="4064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BA8C92C6-00C7-7CE5-5668-E1B93DF2D3C5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4175761" y="3932719"/>
            <a:ext cx="406400" cy="4064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7BA555E4-B2E7-3F4F-1012-04D6B9F848CB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4759662" y="3932719"/>
            <a:ext cx="406400" cy="4064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293F12E0-7C20-103E-823B-E078DACB68E6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5343563" y="3932719"/>
            <a:ext cx="406400" cy="406400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9D2FF636-430D-3395-A670-2129B936FCD7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5927464" y="3932719"/>
            <a:ext cx="406400" cy="406400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F9759910-62D6-2024-D74C-6303FDD84C50}"/>
              </a:ext>
            </a:extLst>
          </p:cNvPr>
          <p:cNvPicPr>
            <a:picLocks noChangeAspect="1"/>
          </p:cNvPicPr>
          <p:nvPr userDrawn="1"/>
        </p:nvPicPr>
        <p:blipFill>
          <a:blip r:embed="rId44"/>
          <a:stretch>
            <a:fillRect/>
          </a:stretch>
        </p:blipFill>
        <p:spPr>
          <a:xfrm>
            <a:off x="6511365" y="3932719"/>
            <a:ext cx="406400" cy="406400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EEA9CD9B-4B51-4B4A-0B50-4BCAABC43C35}"/>
              </a:ext>
            </a:extLst>
          </p:cNvPr>
          <p:cNvPicPr>
            <a:picLocks noChangeAspect="1"/>
          </p:cNvPicPr>
          <p:nvPr userDrawn="1"/>
        </p:nvPicPr>
        <p:blipFill>
          <a:blip r:embed="rId45"/>
          <a:stretch>
            <a:fillRect/>
          </a:stretch>
        </p:blipFill>
        <p:spPr>
          <a:xfrm>
            <a:off x="7095266" y="3932719"/>
            <a:ext cx="406400" cy="406400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FDF73479-070C-AB23-1DB0-1A720DE5E2C9}"/>
              </a:ext>
            </a:extLst>
          </p:cNvPr>
          <p:cNvPicPr>
            <a:picLocks noChangeAspect="1"/>
          </p:cNvPicPr>
          <p:nvPr userDrawn="1"/>
        </p:nvPicPr>
        <p:blipFill>
          <a:blip r:embed="rId46"/>
          <a:stretch>
            <a:fillRect/>
          </a:stretch>
        </p:blipFill>
        <p:spPr>
          <a:xfrm>
            <a:off x="7679167" y="3932719"/>
            <a:ext cx="406400" cy="406400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2F6CD2C8-4B93-CE78-A1D6-3C5C2336CF9B}"/>
              </a:ext>
            </a:extLst>
          </p:cNvPr>
          <p:cNvPicPr>
            <a:picLocks noChangeAspect="1"/>
          </p:cNvPicPr>
          <p:nvPr userDrawn="1"/>
        </p:nvPicPr>
        <p:blipFill>
          <a:blip r:embed="rId47"/>
          <a:stretch>
            <a:fillRect/>
          </a:stretch>
        </p:blipFill>
        <p:spPr>
          <a:xfrm>
            <a:off x="8263068" y="3932719"/>
            <a:ext cx="406400" cy="406400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D4C00139-0CE3-8CE5-B259-0F43135F5592}"/>
              </a:ext>
            </a:extLst>
          </p:cNvPr>
          <p:cNvPicPr>
            <a:picLocks noChangeAspect="1"/>
          </p:cNvPicPr>
          <p:nvPr userDrawn="1"/>
        </p:nvPicPr>
        <p:blipFill>
          <a:blip r:embed="rId48"/>
          <a:stretch>
            <a:fillRect/>
          </a:stretch>
        </p:blipFill>
        <p:spPr>
          <a:xfrm>
            <a:off x="8846969" y="3932719"/>
            <a:ext cx="406400" cy="406400"/>
          </a:xfrm>
          <a:prstGeom prst="rect">
            <a:avLst/>
          </a:prstGeom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A2031E1B-88EA-F8CD-5BED-28ED84CDE94E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9430873" y="3932719"/>
            <a:ext cx="406400" cy="406400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44D35374-AB53-6CC7-81CB-F02083320946}"/>
              </a:ext>
            </a:extLst>
          </p:cNvPr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>
            <a:off x="672355" y="4638599"/>
            <a:ext cx="406400" cy="406400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444D1992-BA71-02AC-0899-8D9F3B225EBF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1254902" y="4638599"/>
            <a:ext cx="406400" cy="406400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AB888701-130D-BA59-B2FD-9CED214B741E}"/>
              </a:ext>
            </a:extLst>
          </p:cNvPr>
          <p:cNvPicPr>
            <a:picLocks noChangeAspect="1"/>
          </p:cNvPicPr>
          <p:nvPr userDrawn="1"/>
        </p:nvPicPr>
        <p:blipFill>
          <a:blip r:embed="rId52"/>
          <a:stretch>
            <a:fillRect/>
          </a:stretch>
        </p:blipFill>
        <p:spPr>
          <a:xfrm>
            <a:off x="1837449" y="4638599"/>
            <a:ext cx="406400" cy="406400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73D26884-A0AC-BFFB-F7EA-D09422D0637E}"/>
              </a:ext>
            </a:extLst>
          </p:cNvPr>
          <p:cNvPicPr>
            <a:picLocks noChangeAspect="1"/>
          </p:cNvPicPr>
          <p:nvPr userDrawn="1"/>
        </p:nvPicPr>
        <p:blipFill>
          <a:blip r:embed="rId53"/>
          <a:stretch>
            <a:fillRect/>
          </a:stretch>
        </p:blipFill>
        <p:spPr>
          <a:xfrm>
            <a:off x="2419996" y="4638599"/>
            <a:ext cx="406400" cy="406400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B7D8FBF2-F692-B3F0-B57E-1171E1980A90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3002543" y="4638599"/>
            <a:ext cx="406400" cy="406400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A60AEEAF-4F77-A4ED-DBF9-7CA498A850BA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3585090" y="4638599"/>
            <a:ext cx="406400" cy="406400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9A645881-0731-E0CE-082D-DFFF83D4DB7B}"/>
              </a:ext>
            </a:extLst>
          </p:cNvPr>
          <p:cNvPicPr>
            <a:picLocks noChangeAspect="1"/>
          </p:cNvPicPr>
          <p:nvPr userDrawn="1"/>
        </p:nvPicPr>
        <p:blipFill>
          <a:blip r:embed="rId56"/>
          <a:stretch>
            <a:fillRect/>
          </a:stretch>
        </p:blipFill>
        <p:spPr>
          <a:xfrm>
            <a:off x="4167637" y="4638599"/>
            <a:ext cx="406400" cy="406400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11CC68E6-F51D-2858-022C-FCDB9FA0D82F}"/>
              </a:ext>
            </a:extLst>
          </p:cNvPr>
          <p:cNvPicPr>
            <a:picLocks noChangeAspect="1"/>
          </p:cNvPicPr>
          <p:nvPr userDrawn="1"/>
        </p:nvPicPr>
        <p:blipFill>
          <a:blip r:embed="rId57"/>
          <a:stretch>
            <a:fillRect/>
          </a:stretch>
        </p:blipFill>
        <p:spPr>
          <a:xfrm>
            <a:off x="4750184" y="4638599"/>
            <a:ext cx="406400" cy="406400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5BDFFDD2-E282-B0F2-94C2-239E460CEB38}"/>
              </a:ext>
            </a:extLst>
          </p:cNvPr>
          <p:cNvPicPr>
            <a:picLocks noChangeAspect="1"/>
          </p:cNvPicPr>
          <p:nvPr userDrawn="1"/>
        </p:nvPicPr>
        <p:blipFill>
          <a:blip r:embed="rId58"/>
          <a:stretch>
            <a:fillRect/>
          </a:stretch>
        </p:blipFill>
        <p:spPr>
          <a:xfrm>
            <a:off x="5332731" y="4638599"/>
            <a:ext cx="406400" cy="406400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B56172F5-4102-8C2A-E3F8-651474AFBD5D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5915278" y="4638599"/>
            <a:ext cx="406400" cy="406400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CFBC367-91A0-DA5E-8546-9ED40802DBE4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6497825" y="4638599"/>
            <a:ext cx="406400" cy="406400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BDF3BF0A-7907-7E8B-5DF4-0D35436C292C}"/>
              </a:ext>
            </a:extLst>
          </p:cNvPr>
          <p:cNvPicPr>
            <a:picLocks noChangeAspect="1"/>
          </p:cNvPicPr>
          <p:nvPr userDrawn="1"/>
        </p:nvPicPr>
        <p:blipFill>
          <a:blip r:embed="rId61"/>
          <a:stretch>
            <a:fillRect/>
          </a:stretch>
        </p:blipFill>
        <p:spPr>
          <a:xfrm>
            <a:off x="7080372" y="4638599"/>
            <a:ext cx="406400" cy="406400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7CB03A4E-39E1-B21D-304E-3ADB2225714E}"/>
              </a:ext>
            </a:extLst>
          </p:cNvPr>
          <p:cNvPicPr>
            <a:picLocks noChangeAspect="1"/>
          </p:cNvPicPr>
          <p:nvPr userDrawn="1"/>
        </p:nvPicPr>
        <p:blipFill>
          <a:blip r:embed="rId62"/>
          <a:stretch>
            <a:fillRect/>
          </a:stretch>
        </p:blipFill>
        <p:spPr>
          <a:xfrm>
            <a:off x="7662919" y="4638599"/>
            <a:ext cx="406400" cy="406400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8AF24F39-60E2-CE9B-BEBD-2D6FE580BB28}"/>
              </a:ext>
            </a:extLst>
          </p:cNvPr>
          <p:cNvPicPr>
            <a:picLocks noChangeAspect="1"/>
          </p:cNvPicPr>
          <p:nvPr userDrawn="1"/>
        </p:nvPicPr>
        <p:blipFill>
          <a:blip r:embed="rId63"/>
          <a:stretch>
            <a:fillRect/>
          </a:stretch>
        </p:blipFill>
        <p:spPr>
          <a:xfrm>
            <a:off x="8245466" y="4638599"/>
            <a:ext cx="406400" cy="406400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94C10173-9A29-8E2F-231D-69C3E02D341C}"/>
              </a:ext>
            </a:extLst>
          </p:cNvPr>
          <p:cNvPicPr>
            <a:picLocks noChangeAspect="1"/>
          </p:cNvPicPr>
          <p:nvPr userDrawn="1"/>
        </p:nvPicPr>
        <p:blipFill>
          <a:blip r:embed="rId64"/>
          <a:stretch>
            <a:fillRect/>
          </a:stretch>
        </p:blipFill>
        <p:spPr>
          <a:xfrm>
            <a:off x="8828013" y="4638599"/>
            <a:ext cx="406400" cy="406400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5E59DC7-93CF-5111-CC70-03B5ED6B28BF}"/>
              </a:ext>
            </a:extLst>
          </p:cNvPr>
          <p:cNvPicPr>
            <a:picLocks noChangeAspect="1"/>
          </p:cNvPicPr>
          <p:nvPr userDrawn="1"/>
        </p:nvPicPr>
        <p:blipFill>
          <a:blip r:embed="rId65"/>
          <a:stretch>
            <a:fillRect/>
          </a:stretch>
        </p:blipFill>
        <p:spPr>
          <a:xfrm>
            <a:off x="9410564" y="4638599"/>
            <a:ext cx="406400" cy="406400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E88FFF65-B37B-FD27-6F41-CDFE09C20E2E}"/>
              </a:ext>
            </a:extLst>
          </p:cNvPr>
          <p:cNvPicPr>
            <a:picLocks noChangeAspect="1"/>
          </p:cNvPicPr>
          <p:nvPr userDrawn="1"/>
        </p:nvPicPr>
        <p:blipFill>
          <a:blip r:embed="rId66"/>
          <a:stretch>
            <a:fillRect/>
          </a:stretch>
        </p:blipFill>
        <p:spPr>
          <a:xfrm>
            <a:off x="677307" y="5344479"/>
            <a:ext cx="406400" cy="406400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2A3F2FBA-F0C0-64DC-3E76-18B24F639713}"/>
              </a:ext>
            </a:extLst>
          </p:cNvPr>
          <p:cNvPicPr>
            <a:picLocks noChangeAspect="1"/>
          </p:cNvPicPr>
          <p:nvPr userDrawn="1"/>
        </p:nvPicPr>
        <p:blipFill>
          <a:blip r:embed="rId67"/>
          <a:stretch>
            <a:fillRect/>
          </a:stretch>
        </p:blipFill>
        <p:spPr>
          <a:xfrm>
            <a:off x="1258422" y="5344479"/>
            <a:ext cx="406400" cy="406400"/>
          </a:xfrm>
          <a:prstGeom prst="rect">
            <a:avLst/>
          </a:prstGeom>
        </p:spPr>
      </p:pic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EB0BE804-0F07-6A33-49B5-E8DBAE82598C}"/>
              </a:ext>
            </a:extLst>
          </p:cNvPr>
          <p:cNvPicPr>
            <a:picLocks noChangeAspect="1"/>
          </p:cNvPicPr>
          <p:nvPr userDrawn="1"/>
        </p:nvPicPr>
        <p:blipFill>
          <a:blip r:embed="rId68"/>
          <a:stretch>
            <a:fillRect/>
          </a:stretch>
        </p:blipFill>
        <p:spPr>
          <a:xfrm>
            <a:off x="1839537" y="5344479"/>
            <a:ext cx="406400" cy="406400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34C2D06F-1AFD-68D3-1BD7-C3544230B741}"/>
              </a:ext>
            </a:extLst>
          </p:cNvPr>
          <p:cNvPicPr>
            <a:picLocks noChangeAspect="1"/>
          </p:cNvPicPr>
          <p:nvPr userDrawn="1"/>
        </p:nvPicPr>
        <p:blipFill>
          <a:blip r:embed="rId69"/>
          <a:stretch>
            <a:fillRect/>
          </a:stretch>
        </p:blipFill>
        <p:spPr>
          <a:xfrm>
            <a:off x="2420652" y="5344479"/>
            <a:ext cx="406400" cy="406400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0E29EE3E-92B4-AB08-F741-6974F81A84D2}"/>
              </a:ext>
            </a:extLst>
          </p:cNvPr>
          <p:cNvPicPr>
            <a:picLocks noChangeAspect="1"/>
          </p:cNvPicPr>
          <p:nvPr userDrawn="1"/>
        </p:nvPicPr>
        <p:blipFill>
          <a:blip r:embed="rId70"/>
          <a:stretch>
            <a:fillRect/>
          </a:stretch>
        </p:blipFill>
        <p:spPr>
          <a:xfrm>
            <a:off x="3001767" y="5344479"/>
            <a:ext cx="406400" cy="406400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3BDB2B96-FE8B-90E9-6B7C-80C3ECEDB041}"/>
              </a:ext>
            </a:extLst>
          </p:cNvPr>
          <p:cNvPicPr>
            <a:picLocks noChangeAspect="1"/>
          </p:cNvPicPr>
          <p:nvPr userDrawn="1"/>
        </p:nvPicPr>
        <p:blipFill>
          <a:blip r:embed="rId71"/>
          <a:stretch>
            <a:fillRect/>
          </a:stretch>
        </p:blipFill>
        <p:spPr>
          <a:xfrm>
            <a:off x="3582882" y="5344479"/>
            <a:ext cx="406400" cy="406400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A3DB00E8-A224-656A-9A1F-5BA1BD324E34}"/>
              </a:ext>
            </a:extLst>
          </p:cNvPr>
          <p:cNvPicPr>
            <a:picLocks noChangeAspect="1"/>
          </p:cNvPicPr>
          <p:nvPr userDrawn="1"/>
        </p:nvPicPr>
        <p:blipFill>
          <a:blip r:embed="rId72"/>
          <a:stretch>
            <a:fillRect/>
          </a:stretch>
        </p:blipFill>
        <p:spPr>
          <a:xfrm>
            <a:off x="4163997" y="5344479"/>
            <a:ext cx="406400" cy="406400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448CA8EF-9B71-E4B4-6785-DCC7551EC795}"/>
              </a:ext>
            </a:extLst>
          </p:cNvPr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4745112" y="5344479"/>
            <a:ext cx="406400" cy="406400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B4B30557-8837-38A1-601F-0775280F8D81}"/>
              </a:ext>
            </a:extLst>
          </p:cNvPr>
          <p:cNvPicPr>
            <a:picLocks noChangeAspect="1"/>
          </p:cNvPicPr>
          <p:nvPr userDrawn="1"/>
        </p:nvPicPr>
        <p:blipFill>
          <a:blip r:embed="rId74"/>
          <a:stretch>
            <a:fillRect/>
          </a:stretch>
        </p:blipFill>
        <p:spPr>
          <a:xfrm>
            <a:off x="5326227" y="5344479"/>
            <a:ext cx="406400" cy="40640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14FE2212-7468-C13E-B6ED-D8381721978C}"/>
              </a:ext>
            </a:extLst>
          </p:cNvPr>
          <p:cNvPicPr>
            <a:picLocks noChangeAspect="1"/>
          </p:cNvPicPr>
          <p:nvPr userDrawn="1"/>
        </p:nvPicPr>
        <p:blipFill>
          <a:blip r:embed="rId75"/>
          <a:stretch>
            <a:fillRect/>
          </a:stretch>
        </p:blipFill>
        <p:spPr>
          <a:xfrm>
            <a:off x="5907342" y="5344479"/>
            <a:ext cx="406400" cy="406400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0F377296-8E99-5A66-B890-F29E812AF331}"/>
              </a:ext>
            </a:extLst>
          </p:cNvPr>
          <p:cNvPicPr>
            <a:picLocks noChangeAspect="1"/>
          </p:cNvPicPr>
          <p:nvPr userDrawn="1"/>
        </p:nvPicPr>
        <p:blipFill>
          <a:blip r:embed="rId76"/>
          <a:stretch>
            <a:fillRect/>
          </a:stretch>
        </p:blipFill>
        <p:spPr>
          <a:xfrm>
            <a:off x="6488457" y="5344479"/>
            <a:ext cx="406400" cy="406400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B54F5C3D-C06F-A0CA-7872-002A23DAD743}"/>
              </a:ext>
            </a:extLst>
          </p:cNvPr>
          <p:cNvPicPr>
            <a:picLocks noChangeAspect="1"/>
          </p:cNvPicPr>
          <p:nvPr userDrawn="1"/>
        </p:nvPicPr>
        <p:blipFill>
          <a:blip r:embed="rId77"/>
          <a:stretch>
            <a:fillRect/>
          </a:stretch>
        </p:blipFill>
        <p:spPr>
          <a:xfrm>
            <a:off x="7069572" y="5344479"/>
            <a:ext cx="406400" cy="406400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85B2544F-80B2-39A3-3F2B-8769DACCE28B}"/>
              </a:ext>
            </a:extLst>
          </p:cNvPr>
          <p:cNvPicPr>
            <a:picLocks noChangeAspect="1"/>
          </p:cNvPicPr>
          <p:nvPr userDrawn="1"/>
        </p:nvPicPr>
        <p:blipFill>
          <a:blip r:embed="rId78"/>
          <a:stretch>
            <a:fillRect/>
          </a:stretch>
        </p:blipFill>
        <p:spPr>
          <a:xfrm>
            <a:off x="7650687" y="5344479"/>
            <a:ext cx="406400" cy="406400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A76E74F2-835D-BAE9-839B-6F3B871D3FDE}"/>
              </a:ext>
            </a:extLst>
          </p:cNvPr>
          <p:cNvPicPr>
            <a:picLocks noChangeAspect="1"/>
          </p:cNvPicPr>
          <p:nvPr userDrawn="1"/>
        </p:nvPicPr>
        <p:blipFill>
          <a:blip r:embed="rId79"/>
          <a:stretch>
            <a:fillRect/>
          </a:stretch>
        </p:blipFill>
        <p:spPr>
          <a:xfrm>
            <a:off x="8231802" y="5344479"/>
            <a:ext cx="406400" cy="406400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7C40AABE-B5E4-F3AB-D9FA-DDAEB7454628}"/>
              </a:ext>
            </a:extLst>
          </p:cNvPr>
          <p:cNvPicPr>
            <a:picLocks noChangeAspect="1"/>
          </p:cNvPicPr>
          <p:nvPr userDrawn="1"/>
        </p:nvPicPr>
        <p:blipFill>
          <a:blip r:embed="rId80"/>
          <a:stretch>
            <a:fillRect/>
          </a:stretch>
        </p:blipFill>
        <p:spPr>
          <a:xfrm>
            <a:off x="8812917" y="5344479"/>
            <a:ext cx="406400" cy="406400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92351581-2447-B22D-D9A0-EB3934FFBFB5}"/>
              </a:ext>
            </a:extLst>
          </p:cNvPr>
          <p:cNvPicPr>
            <a:picLocks noChangeAspect="1"/>
          </p:cNvPicPr>
          <p:nvPr userDrawn="1"/>
        </p:nvPicPr>
        <p:blipFill>
          <a:blip r:embed="rId81"/>
          <a:stretch>
            <a:fillRect/>
          </a:stretch>
        </p:blipFill>
        <p:spPr>
          <a:xfrm>
            <a:off x="9394034" y="5344479"/>
            <a:ext cx="406400" cy="406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B80302-761B-95C9-3695-25CF39A10D50}"/>
              </a:ext>
            </a:extLst>
          </p:cNvPr>
          <p:cNvPicPr>
            <a:picLocks noChangeAspect="1"/>
          </p:cNvPicPr>
          <p:nvPr userDrawn="1"/>
        </p:nvPicPr>
        <p:blipFill>
          <a:blip r:embed="rId82"/>
          <a:srcRect/>
          <a:stretch/>
        </p:blipFill>
        <p:spPr>
          <a:xfrm>
            <a:off x="9471980" y="503361"/>
            <a:ext cx="2044881" cy="651443"/>
          </a:xfrm>
          <a:prstGeom prst="rect">
            <a:avLst/>
          </a:prstGeom>
        </p:spPr>
      </p:pic>
      <p:sp>
        <p:nvSpPr>
          <p:cNvPr id="7" name="Номер слайда 15">
            <a:extLst>
              <a:ext uri="{FF2B5EF4-FFF2-40B4-BE49-F238E27FC236}">
                <a16:creationId xmlns:a16="http://schemas.microsoft.com/office/drawing/2014/main" id="{719889E9-AC5C-1DA0-6ABD-EF9905E4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49641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77414141-AF25-EB9A-F60B-B52542DE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4A4360A-78E0-EACB-73B0-0C601576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" name="Дата 17">
            <a:extLst>
              <a:ext uri="{FF2B5EF4-FFF2-40B4-BE49-F238E27FC236}">
                <a16:creationId xmlns:a16="http://schemas.microsoft.com/office/drawing/2014/main" id="{5A0ED5F7-4E27-D11E-19FF-8D25C8320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9787" y="6072973"/>
            <a:ext cx="1490681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b="0" i="0"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222374EE-8794-0942-8879-EA9673CC0269}" type="datetimeFigureOut">
              <a:rPr lang="ru-RU" smtClean="0"/>
              <a:pPr/>
              <a:t>19.01.2026</a:t>
            </a:fld>
            <a:endParaRPr lang="ru-RU" dirty="0"/>
          </a:p>
        </p:txBody>
      </p:sp>
      <p:sp>
        <p:nvSpPr>
          <p:cNvPr id="4" name="Номер слайда 15">
            <a:extLst>
              <a:ext uri="{FF2B5EF4-FFF2-40B4-BE49-F238E27FC236}">
                <a16:creationId xmlns:a16="http://schemas.microsoft.com/office/drawing/2014/main" id="{8C971BCE-C89D-0A5C-BEBC-79B6E63FD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8028" y="6082903"/>
            <a:ext cx="473413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0D0329-78C6-364C-97E0-9B31F532BD2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818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9" r:id="rId6"/>
    <p:sldLayoutId id="2147483654" r:id="rId7"/>
    <p:sldLayoutId id="2147483655" r:id="rId8"/>
    <p:sldLayoutId id="2147483656" r:id="rId9"/>
    <p:sldLayoutId id="2147483657" r:id="rId10"/>
    <p:sldLayoutId id="2147483660" r:id="rId11"/>
    <p:sldLayoutId id="2147483661" r:id="rId12"/>
    <p:sldLayoutId id="2147483662" r:id="rId13"/>
    <p:sldLayoutId id="2147483664" r:id="rId14"/>
    <p:sldLayoutId id="2147483665" r:id="rId15"/>
    <p:sldLayoutId id="2147483663" r:id="rId16"/>
    <p:sldLayoutId id="2147483667" r:id="rId17"/>
    <p:sldLayoutId id="2147483674" r:id="rId18"/>
    <p:sldLayoutId id="2147483675" r:id="rId19"/>
    <p:sldLayoutId id="2147483676" r:id="rId20"/>
    <p:sldLayoutId id="2147483678" r:id="rId21"/>
    <p:sldLayoutId id="2147483681" r:id="rId22"/>
    <p:sldLayoutId id="2147483682" r:id="rId23"/>
    <p:sldLayoutId id="2147483698" r:id="rId24"/>
    <p:sldLayoutId id="2147483699" r:id="rId25"/>
    <p:sldLayoutId id="2147483700" r:id="rId26"/>
    <p:sldLayoutId id="2147483701" r:id="rId27"/>
    <p:sldLayoutId id="2147483669" r:id="rId28"/>
    <p:sldLayoutId id="2147483658" r:id="rId29"/>
    <p:sldLayoutId id="2147483668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3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9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7174" userDrawn="1">
          <p15:clr>
            <a:srgbClr val="F26B43"/>
          </p15:clr>
        </p15:guide>
        <p15:guide id="6" orient="horz" pos="32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Relationship Id="rId3" Type="http://schemas.openxmlformats.org/officeDocument/2006/relationships/chart" Target="../charts/chart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Relationship Id="rId3" Type="http://schemas.openxmlformats.org/officeDocument/2006/relationships/chart" Target="../charts/chart1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3677" y="1500000"/>
            <a:ext cx="62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ИССЛЕДОВАНИЕ · ЦИФРОВЫЕ ИННОВАЦИИ В БИЗНЕСЕ И ГОСУДАРСТВЕННОМ СЕКТОРЕ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2000000"/>
            <a:ext cx="98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Экономика быстрого платежа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2850000"/>
            <a:ext cx="93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E3F4F7"/>
                </a:solidFill>
                <a:latin typeface="Segoe UI"/>
              </a:rPr>
              <a:t>Как СБП изменила стоимость безналичных расчётов в России в 2019–2026 гг. и какое место в ней займёт цифровой рубль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63677" y="4250000"/>
            <a:ext cx="60000" cy="1050000"/>
          </a:xfrm>
          <a:prstGeom prst="rect">
            <a:avLst/>
          </a:prstGeom>
          <a:solidFill>
            <a:srgbClr val="19C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3677" y="4220000"/>
            <a:ext cx="80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Шкель Антон Алексеевич · группа ПрИнж25-1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Финансовый университет при Правительстве Российской Федерации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Факультет информационных технологий и анализа больших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677" y="6000000"/>
            <a:ext cx="10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FE6EC"/>
                </a:solidFill>
                <a:latin typeface="Segoe UI Semibold"/>
              </a:rPr>
              <a:t>ОСНОВНАЯ ЗАЩИТА · 15.11.2026 · ДАННЫЕ ПРОВЕРЕНЫ НА 20.10.2026 · КОД И ДАННЫЕ: GITHUB.COM/ANTONSHKELLL/SBP-ECONOMICS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Проект за 30 секунд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02 /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677" y="1850000"/>
            <a:ext cx="3454000" cy="2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63677" y="203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3677" y="2020000"/>
            <a:ext cx="921000" cy="300000"/>
          </a:xfrm>
          <a:prstGeom prst="roundRect">
            <a:avLst>
              <a:gd name="adj" fmla="val 50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ВОПРОС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677" y="24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Почему покупки уходят с карт в СБП?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677" y="3160000"/>
            <a:ext cx="3054000" cy="1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И сможет ли цифровой рубль изменить расклад до 2028 года?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77" y="1850000"/>
            <a:ext cx="3454000" cy="2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68677" y="203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98677" y="2020000"/>
            <a:ext cx="1024500" cy="300000"/>
          </a:xfrm>
          <a:prstGeom prst="roundRect">
            <a:avLst>
              <a:gd name="adj" fmla="val 50000"/>
            </a:avLst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МЕТРИКА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8677" y="24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Цена одного платежа для продавца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8677" y="2920000"/>
            <a:ext cx="3054000" cy="1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Комиссия × (1 + НДС) в рублях с чека, срок зачисления, доля способа оплаты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3677" y="1850000"/>
            <a:ext cx="3454000" cy="2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73677" y="203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303677" y="2020000"/>
            <a:ext cx="12315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РЕЗУЛЬТАТ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3677" y="24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СБП дешевле карты в 2,6–4,4 раза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3677" y="2920000"/>
            <a:ext cx="3054000" cy="1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На чеке 1 700 ₽. С 2027 года цифровой рубль — ещё в 2,3 раза дешевле СБП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677" y="4800000"/>
            <a:ext cx="10864000" cy="11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83677" y="52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3677" y="4880000"/>
            <a:ext cx="9114000" cy="9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Платёж «бесплатен» только для покупателя. Продавец платит комиссию и закладывает её в цену — выбор способа оплаты касается всех.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НАВИГАЦИЯ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Девять шагов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03 /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677" y="1750000"/>
            <a:ext cx="3454000" cy="133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3677" y="190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98AE"/>
                </a:solidFill>
                <a:latin typeface="Segoe UI Black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3677" y="198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Введение и методология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3677" y="263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слайды 1–9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77" y="1750000"/>
            <a:ext cx="3454000" cy="133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8677" y="190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8677" y="198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Как устроена СБП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8677" y="263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6EEF2"/>
                </a:solidFill>
                <a:latin typeface="Segoe UI"/>
              </a:rPr>
              <a:t>слайды 10–18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3677" y="1750000"/>
            <a:ext cx="3454000" cy="133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03677" y="190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98AE"/>
                </a:solidFill>
                <a:latin typeface="Segoe UI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3677" y="198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Битва за кассу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3677" y="263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слайды 19–26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677" y="3220000"/>
            <a:ext cx="3454000" cy="133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3677" y="337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3677" y="345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Экономика одного чека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3677" y="410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6EEF2"/>
                </a:solidFill>
                <a:latin typeface="Segoe UI"/>
              </a:rPr>
              <a:t>слайды 27–35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8677" y="3220000"/>
            <a:ext cx="3454000" cy="133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98677" y="337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98AE"/>
                </a:solidFill>
                <a:latin typeface="Segoe UI Blac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8677" y="345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Риски мгновенности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8677" y="410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слайды 36–38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3677" y="3220000"/>
            <a:ext cx="3454000" cy="133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03677" y="337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3677" y="345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Мир: как у других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3677" y="410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6EEF2"/>
                </a:solidFill>
                <a:latin typeface="Segoe UI"/>
              </a:rPr>
              <a:t>слайды 39–43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677" y="4690000"/>
            <a:ext cx="3454000" cy="133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93677" y="484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098AE"/>
                </a:solidFill>
                <a:latin typeface="Segoe UI Black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13677" y="492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Цифровой рубль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677" y="557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слайды 44–49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8677" y="4690000"/>
            <a:ext cx="3454000" cy="133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98677" y="484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8677" y="492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Стратегический анализ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8677" y="557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6EEF2"/>
                </a:solidFill>
                <a:latin typeface="Segoe UI"/>
              </a:rPr>
              <a:t>слайды 50–55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3677" y="4690000"/>
            <a:ext cx="3454000" cy="133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03677" y="4840000"/>
            <a:ext cx="11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3677" y="4920000"/>
            <a:ext cx="205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Продукт и выводы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3677" y="5570000"/>
            <a:ext cx="205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6EEF2"/>
                </a:solidFill>
                <a:latin typeface="Segoe UI"/>
              </a:rPr>
              <a:t>слайды 56–60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МАСШТАБ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Один день платежей в России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2026; Банк России, итоги 2024 и 2025 гг.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04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2600000" cy="1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216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56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780000"/>
            <a:ext cx="216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операций СБП в сутки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677" y="1800000"/>
            <a:ext cx="2600000" cy="1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677" y="1970000"/>
            <a:ext cx="216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5,1 млрд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677" y="2780000"/>
            <a:ext cx="216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операций за II кв.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1677" y="1800000"/>
            <a:ext cx="2600000" cy="17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1677" y="1970000"/>
            <a:ext cx="216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83542"/>
                </a:solidFill>
                <a:latin typeface="Segoe UI Black"/>
              </a:rPr>
              <a:t>29,9 трлн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77" y="2780000"/>
            <a:ext cx="216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рублей — объём за квартал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5677" y="1800000"/>
            <a:ext cx="2600000" cy="1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5677" y="1970000"/>
            <a:ext cx="216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3,3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5677" y="2780000"/>
            <a:ext cx="216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продавцов принимают СБП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77" y="380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Операций СБП в сутки, млн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63677" y="4050000"/>
          <a:ext cx="6400000" cy="21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300000" y="3850000"/>
            <a:ext cx="4230000" cy="22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520000" y="40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000" y="4410000"/>
            <a:ext cx="3790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За 2,5 года — в 2,2 раза больше операций в сутки. СБП стала базовой инфраструктурой, как электричество в розетке.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Для покупателя платёж бесплатный. Для продавца —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схема автора; тарифы — НСПК, Контур (вторичные)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05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9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КАРТА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677" y="218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FFFFFF"/>
                </a:solidFill>
                <a:latin typeface="Segoe UI Semibold"/>
              </a:rPr>
              <a:t>Покупатель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677" y="2420000"/>
            <a:ext cx="240000" cy="2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63677" y="218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Банк-эмитент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803677" y="2420000"/>
            <a:ext cx="240000" cy="2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63677" y="218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Платёжная система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03677" y="2420000"/>
            <a:ext cx="240000" cy="2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3677" y="218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Банк-эквайер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03677" y="2420000"/>
            <a:ext cx="240000" cy="2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3677" y="218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FFFFFF"/>
                </a:solidFill>
                <a:latin typeface="Segoe UI Semibold"/>
              </a:rPr>
              <a:t>Продавец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3677" y="2130000"/>
            <a:ext cx="2310000" cy="780000"/>
          </a:xfrm>
          <a:prstGeom prst="roundRect">
            <a:avLst>
              <a:gd name="adj" fmla="val 20000"/>
            </a:avLst>
          </a:prstGeom>
          <a:solidFill>
            <a:srgbClr val="D70E16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Semibold"/>
              </a:rPr>
              <a:t>1,5–2,5% + НДС 22%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 Semibold"/>
              </a:rPr>
              <a:t>зачисление обычно T+1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677" y="3150000"/>
            <a:ext cx="900000" cy="300000"/>
          </a:xfrm>
          <a:prstGeom prst="roundRect">
            <a:avLst>
              <a:gd name="adj" fmla="val 50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СБП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353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FFFFFF"/>
                </a:solidFill>
                <a:latin typeface="Segoe UI Semibold"/>
              </a:rPr>
              <a:t>Покупатель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103677" y="3770000"/>
            <a:ext cx="240000" cy="200000"/>
          </a:xfrm>
          <a:prstGeom prst="rightArrow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63677" y="353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Банк покупателя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803677" y="3770000"/>
            <a:ext cx="240000" cy="200000"/>
          </a:xfrm>
          <a:prstGeom prst="rightArrow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63677" y="353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СБП (Банк России, НСПК)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503677" y="3770000"/>
            <a:ext cx="240000" cy="200000"/>
          </a:xfrm>
          <a:prstGeom prst="rightArrow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3677" y="353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EA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083542"/>
                </a:solidFill>
                <a:latin typeface="Segoe UI Semibold"/>
              </a:rPr>
              <a:t>Банк продавца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03677" y="3770000"/>
            <a:ext cx="240000" cy="200000"/>
          </a:xfrm>
          <a:prstGeom prst="rightArrow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3677" y="3530000"/>
            <a:ext cx="1420000" cy="680000"/>
          </a:xfrm>
          <a:prstGeom prst="roundRect">
            <a:avLst>
              <a:gd name="adj" fmla="val 20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/>
          <a:lstStyle/>
          <a:p>
            <a:pPr algn="ctr"/>
            <a:r>
              <a:rPr sz="1100" b="0">
                <a:solidFill>
                  <a:srgbClr val="FFFFFF"/>
                </a:solidFill>
                <a:latin typeface="Segoe UI Semibold"/>
              </a:rPr>
              <a:t>Продавец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13677" y="3480000"/>
            <a:ext cx="2310000" cy="780000"/>
          </a:xfrm>
          <a:prstGeom prst="roundRect">
            <a:avLst>
              <a:gd name="adj" fmla="val 20000"/>
            </a:avLst>
          </a:prstGeom>
          <a:solidFill>
            <a:srgbClr val="0098AE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Semibold"/>
              </a:rPr>
              <a:t>0,4–0,7%, без НДС*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Segoe UI Semibold"/>
              </a:rPr>
              <a:t>зачисление за секунды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3677" y="4600000"/>
            <a:ext cx="10864000" cy="11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883677" y="502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3677" y="4680000"/>
            <a:ext cx="9114000" cy="9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Комиссию платит продавец и закладывает её в цену. Дорогой способ оплаты — скрытый налог на всех покупателей.</a:t>
            </a:r>
          </a:p>
        </p:txBody>
      </p:sp>
      <p:sp>
        <p:nvSpPr>
          <p:cNvPr id="32" name="Oval 31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тарифы — вторичные источники; *НДС на комиссию СБП — допущение, официально не подтверждено.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ПАСПОРТ ИССЛЕДОВАНИЯ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Что, как и на каких данных я изучаю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06 /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677" y="18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63677" y="198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3677" y="19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Объект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677" y="24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Безналичные розничные платежи России; центральный кейс — СБП Банка России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77" y="18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68677" y="198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98677" y="19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Предмет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8677" y="24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Цена, скорость и доля трёх способов оплаты: карта, СБП, цифровой рубль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3677" y="18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073677" y="198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03677" y="19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Метрика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3677" y="24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Цена приёма платежа для продавца: комиссия × (1 + НДС), срок зачисления, доля способа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677" y="39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3677" y="408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3677" y="40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Методы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677" y="45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Статистика ЦБ, юнит-экономика, чувствительность, сравнение стран, PEST, SWOT, Портер, Кили, сценарии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8677" y="39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68677" y="408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8677" y="40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Период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8677" y="45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2019 — II квартал 2026; оперативные данные по ЦР — до 12.10.2026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3677" y="3900000"/>
            <a:ext cx="3454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73677" y="408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3677" y="407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83542"/>
                </a:solidFill>
                <a:latin typeface="Segoe UI Semibold"/>
              </a:rPr>
              <a:t>Открытость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3677" y="4590000"/>
            <a:ext cx="3054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33444C"/>
                </a:solidFill>
                <a:latin typeface="Segoe UI"/>
              </a:rPr>
              <a:t>Данные (CSV), код расчётов с тестами и калькулятор — в репозитории sbp-economics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ГИПОТЕЗЫ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Три гипотезы — и что с ними стало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07 /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677" y="1800000"/>
            <a:ext cx="3454000" cy="3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3677" y="195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098AE"/>
                </a:solidFill>
                <a:latin typeface="Segoe UI Black"/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3677" y="2800000"/>
            <a:ext cx="300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Цена объясняет переток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677" y="3450000"/>
            <a:ext cx="3004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Рост доли СБП в покупках объясняется прежде всего ценовым разрывом с эквайрингом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3677" y="4800000"/>
            <a:ext cx="1800000" cy="3000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ЧАСТИЧНО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77" y="1800000"/>
            <a:ext cx="3454000" cy="3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18677" y="195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098AE"/>
                </a:solidFill>
                <a:latin typeface="Segoe UI Black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677" y="2800000"/>
            <a:ext cx="300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Разрыв пережил 2026 год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8677" y="3450000"/>
            <a:ext cx="3004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НДС на эквайринг и тарифы ЦБ в СБП не уничтожили преимущество СБП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8677" y="4800000"/>
            <a:ext cx="1800000" cy="30000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ПОДТВЕРЖДЕНА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3677" y="1800000"/>
            <a:ext cx="3454000" cy="3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23677" y="1950000"/>
            <a:ext cx="1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0098AE"/>
                </a:solidFill>
                <a:latin typeface="Segoe UI Black"/>
              </a:rP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3677" y="2800000"/>
            <a:ext cx="300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У ЦР нет ценового стимула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3677" y="3450000"/>
            <a:ext cx="3004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Без стимула цифровой рубль не станет массовым до 2028 года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3677" y="4800000"/>
            <a:ext cx="18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ПЕРЕСМОТРЕНА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677" y="5500000"/>
            <a:ext cx="10864000" cy="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883677" y="57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3677" y="5580000"/>
            <a:ext cx="911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Самое интересное — H3: данные 2026 года опровергли мою исходную гипотезу.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МЕТОДОЛОГИЯ ·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Словарь метрик: что и как я измеряю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08 / 60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3677" y="1750000"/>
          <a:ext cx="10863997" cy="4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000"/>
                <a:gridCol w="6013999"/>
                <a:gridCol w="969999"/>
                <a:gridCol w="1745999"/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Segoe UI Semibold"/>
                        </a:rPr>
                        <a:t>Метрика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Segoe UI Semibold"/>
                        </a:rPr>
                        <a:t>Определение / формула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Segoe UI Semibold"/>
                        </a:rPr>
                        <a:t>Ед.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  <a:latin typeface="Segoe UI Semibold"/>
                        </a:rPr>
                        <a:t>Источник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Цена платежа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min(чек × ставка; потолок) × (1 + НДС, если не вычитается)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₽, %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расчёт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Разрыв цены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цена способа A / цена способа B на одном чеке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раз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расчёт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Экономия бизнеса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оборот × доля перевода × (ставка карты эфф. − ставка цели) × 12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₽/год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расчёт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Доля способа оплаты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операции способа / все операции оплаты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Банк России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Средний чек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объём операций / количество операций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Банк России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Проникновение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ТСП, принимающие СБП / все ТСП; МСП в СБП / все МСП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Банк России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Доля Me2Me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переводы себе / все переводы C2C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Банк России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 Semibold"/>
                        </a:rPr>
                        <a:t>Интенсивность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операций системы в месяц / население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раз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83542"/>
                          </a:solidFill>
                          <a:latin typeface="Segoe UI"/>
                        </a:rPr>
                        <a:t>расчёт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663677" y="60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3677" y="60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ставки для расчётов — вторичные источники; население для интенсивности округлено.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МЕТОДОЛОГИЯ · 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Как устроено исследование: от источника до вывода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репозиторий sbp-economics: analysis/dataset.py, payment_cost.py, test_payment_cost.py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09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50000"/>
            <a:ext cx="200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098AE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3677" y="195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677" y="2650000"/>
            <a:ext cx="1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Сбор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677" y="3100000"/>
            <a:ext cx="17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Отчёты ЦБ, решения о тарифах, НСПК, СМИ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3677" y="2850000"/>
            <a:ext cx="180000" cy="26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3677" y="1850000"/>
            <a:ext cx="200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43677" y="195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677" y="2650000"/>
            <a:ext cx="1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Верификация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3677" y="3100000"/>
            <a:ext cx="17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Источник и статус у каждой цифры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3677" y="2850000"/>
            <a:ext cx="180000" cy="26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3677" y="1850000"/>
            <a:ext cx="200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43677" y="195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3677" y="2650000"/>
            <a:ext cx="1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Модель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3677" y="3100000"/>
            <a:ext cx="17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Python: данные, формулы, автотесты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73677" y="2850000"/>
            <a:ext cx="180000" cy="26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3677" y="1850000"/>
            <a:ext cx="200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43677" y="195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677" y="2650000"/>
            <a:ext cx="1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Визуализация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677" y="3100000"/>
            <a:ext cx="17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60 слайдов, дашборд, калькулятор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73677" y="2850000"/>
            <a:ext cx="180000" cy="26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63677" y="1850000"/>
            <a:ext cx="200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70E16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43677" y="1950000"/>
            <a:ext cx="16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Segoe UI Black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3677" y="2650000"/>
            <a:ext cx="17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Выводы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3677" y="3100000"/>
            <a:ext cx="170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Проверка H1–H3, сценарии, рекомендации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677" y="4400000"/>
            <a:ext cx="2580000" cy="90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13677" y="4560000"/>
            <a:ext cx="300000" cy="3000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23677" y="4500000"/>
            <a:ext cx="19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первичный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3677" y="4800000"/>
            <a:ext cx="19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Банк России, тексты решений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93677" y="4400000"/>
            <a:ext cx="2580000" cy="90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3543677" y="4560000"/>
            <a:ext cx="300000" cy="300000"/>
          </a:xfrm>
          <a:prstGeom prst="ellipse">
            <a:avLst/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953677" y="4500000"/>
            <a:ext cx="19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вторичный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53677" y="4800000"/>
            <a:ext cx="19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СМИ, сервисы, агрегаторы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3677" y="4400000"/>
            <a:ext cx="2580000" cy="90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273677" y="4560000"/>
            <a:ext cx="300000" cy="30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83677" y="4500000"/>
            <a:ext cx="19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спорно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83677" y="4800000"/>
            <a:ext cx="19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источники расходятся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53677" y="4400000"/>
            <a:ext cx="2580000" cy="90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003677" y="4560000"/>
            <a:ext cx="300000" cy="300000"/>
          </a:xfrm>
          <a:prstGeom prst="ellipse">
            <a:avLst/>
          </a:prstGeom>
          <a:solidFill>
            <a:srgbClr val="9AA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413677" y="4500000"/>
            <a:ext cx="19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автор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3677" y="4800000"/>
            <a:ext cx="19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расчёт или оценка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3677" y="5450000"/>
            <a:ext cx="10864000" cy="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83677" y="565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3677" y="5530000"/>
            <a:ext cx="911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Каждая цифра имеет источник и статус, а расчёты воспроизводятся кодом с тестами.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Как устроена СБП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Архитектура, сценарии, рост и переводы «самому себе»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СБП уже выиграла переводы: 55% против 21% у карт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Путь платежа за несколько секунд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НСПК — описание СБП (общедоступные материалы)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11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2000000"/>
            <a:ext cx="1950000" cy="1900000"/>
          </a:xfrm>
          <a:prstGeom prst="roundRect">
            <a:avLst>
              <a:gd name="adj" fmla="val 8000"/>
            </a:avLst>
          </a:prstGeom>
          <a:solidFill>
            <a:srgbClr val="083542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3677" y="2150000"/>
            <a:ext cx="16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Покупатель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677" y="2700000"/>
            <a:ext cx="165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3F4F7"/>
                </a:solidFill>
                <a:latin typeface="Segoe UI"/>
              </a:rPr>
              <a:t>QR, ссылка, номер телефона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28677" y="2800000"/>
            <a:ext cx="220000" cy="28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3677" y="2000000"/>
            <a:ext cx="1950000" cy="1900000"/>
          </a:xfrm>
          <a:prstGeom prst="roundRect">
            <a:avLst>
              <a:gd name="adj" fmla="val 8000"/>
            </a:avLst>
          </a:prstGeom>
          <a:solidFill>
            <a:srgbClr val="016A80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013677" y="2150000"/>
            <a:ext cx="16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Банк покупателя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3677" y="2700000"/>
            <a:ext cx="165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3F4F7"/>
                </a:solidFill>
                <a:latin typeface="Segoe UI"/>
              </a:rPr>
              <a:t>списание, проверка на мошенничество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28677" y="2800000"/>
            <a:ext cx="220000" cy="28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63677" y="2000000"/>
            <a:ext cx="1950000" cy="19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098AE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13677" y="2150000"/>
            <a:ext cx="16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НСПК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677" y="2700000"/>
            <a:ext cx="165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3F4F7"/>
                </a:solidFill>
                <a:latin typeface="Segoe UI"/>
              </a:rPr>
              <a:t>операционный центр: поиск получателя, маршрутизация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28677" y="2800000"/>
            <a:ext cx="220000" cy="28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3677" y="2000000"/>
            <a:ext cx="1950000" cy="1900000"/>
          </a:xfrm>
          <a:prstGeom prst="roundRect">
            <a:avLst>
              <a:gd name="adj" fmla="val 8000"/>
            </a:avLst>
          </a:prstGeom>
          <a:solidFill>
            <a:srgbClr val="016A80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13677" y="2150000"/>
            <a:ext cx="16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Банк России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3677" y="2700000"/>
            <a:ext cx="165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3F4F7"/>
                </a:solidFill>
                <a:latin typeface="Segoe UI"/>
              </a:rPr>
              <a:t>расчёты между банками в реальном времени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28677" y="2800000"/>
            <a:ext cx="220000" cy="28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63677" y="2000000"/>
            <a:ext cx="1950000" cy="1900000"/>
          </a:xfrm>
          <a:prstGeom prst="roundRect">
            <a:avLst>
              <a:gd name="adj" fmla="val 8000"/>
            </a:avLst>
          </a:prstGeom>
          <a:solidFill>
            <a:srgbClr val="083542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13677" y="2150000"/>
            <a:ext cx="1650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Банк продавца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3677" y="2700000"/>
            <a:ext cx="165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3F4F7"/>
                </a:solidFill>
                <a:latin typeface="Segoe UI"/>
              </a:rPr>
              <a:t>зачисление за секунды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3677" y="4150000"/>
            <a:ext cx="345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3677" y="4320000"/>
            <a:ext cx="3014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24/7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677" y="4878000"/>
            <a:ext cx="3014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работает круглосуточно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8677" y="4150000"/>
            <a:ext cx="345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88677" y="4320000"/>
            <a:ext cx="3014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секунды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8677" y="4878000"/>
            <a:ext cx="3014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от подтверждения до зачисления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3677" y="4150000"/>
            <a:ext cx="3454000" cy="13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93677" y="4320000"/>
            <a:ext cx="3014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83542"/>
                </a:solidFill>
                <a:latin typeface="Segoe UI Black"/>
              </a:rPr>
              <a:t>1 номер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77" y="4878000"/>
            <a:ext cx="3014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телефон вместо реквизитов</a:t>
            </a:r>
          </a:p>
        </p:txBody>
      </p:sp>
      <p:sp>
        <p:nvSpPr>
          <p:cNvPr id="35" name="Oval 34"/>
          <p:cNvSpPr/>
          <p:nvPr/>
        </p:nvSpPr>
        <p:spPr>
          <a:xfrm>
            <a:off x="663677" y="57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3677" y="57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роли участников описаны по общедоступным материалам ЦБ и НСПК; технические детали упрощены.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СЦЕНАРИИ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Девять сценариев одной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2026; Банк России, СБП IV кв. 2025; «Известия»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12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75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3677" y="193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3677" y="192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C2C · людям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677" y="244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3,5 млрд переводов за II кв.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77" y="175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68677" y="193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98677" y="192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Me2Me · себе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8677" y="244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почти половина переводов C2C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3677" y="175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73677" y="193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03677" y="192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C2B · QR в магазине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3677" y="244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1,5 млрд покупок, средний чек 1,7 тыс. 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313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3677" y="331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93677" y="33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C2B · онлайн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677" y="382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оплата по ссылке и кнопке СБП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8677" y="313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68677" y="331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98677" y="33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Подписки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8677" y="382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автоплатежи по согласию клиента*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3677" y="313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73677" y="331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03677" y="330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B2C · выплаты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3677" y="382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зарплаты, возвраты, кэшбэк; 72,8 млн в IV кв. 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677" y="451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3677" y="469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93677" y="46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B2B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677" y="520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платежи компаний: ×3+ за год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8677" y="451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368677" y="4690000"/>
            <a:ext cx="70000" cy="420000"/>
          </a:xfrm>
          <a:prstGeom prst="rect">
            <a:avLst/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98677" y="46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C2G · бюджет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8677" y="520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2,3 млн платежей, +65% за квартал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3677" y="4510000"/>
            <a:ext cx="3454000" cy="1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073677" y="4690000"/>
            <a:ext cx="70000" cy="420000"/>
          </a:xfrm>
          <a:prstGeom prst="rect">
            <a:avLst/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303677" y="46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Трансграничные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3677" y="5200000"/>
            <a:ext cx="3054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44C"/>
                </a:solidFill>
                <a:latin typeface="Segoe UI"/>
              </a:rPr>
              <a:t>9 стран, в том числе ЕАЭС*</a:t>
            </a:r>
          </a:p>
        </p:txBody>
      </p:sp>
      <p:sp>
        <p:nvSpPr>
          <p:cNvPr id="43" name="Oval 42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*подписки и список стран — вторичные источники; сценарии сгруппированы автором.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ХРОНОЛОГИЯ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Семь лет: от переводов по номеру до цифрового рубля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 (28.01.2019, итоги 2023–2025, решения 2026); Ведомости, 28.05.2020; РБК; «Известия»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13 / 60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3677" y="3550000"/>
            <a:ext cx="10864000" cy="0"/>
          </a:xfrm>
          <a:prstGeom prst="line">
            <a:avLst/>
          </a:prstGeom>
          <a:ln w="38100">
            <a:solidFill>
              <a:srgbClr val="C9D6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82677" y="3390000"/>
            <a:ext cx="320000" cy="32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02677" y="1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98AE"/>
                </a:solidFill>
                <a:latin typeface="Segoe UI Black"/>
              </a:rPr>
              <a:t>28.01.2019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677" y="2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Запуск СБП: переводы по номеру телефона</a:t>
            </a:r>
          </a:p>
        </p:txBody>
      </p:sp>
      <p:sp>
        <p:nvSpPr>
          <p:cNvPr id="11" name="Oval 10"/>
          <p:cNvSpPr/>
          <p:nvPr/>
        </p:nvSpPr>
        <p:spPr>
          <a:xfrm>
            <a:off x="2540677" y="3390000"/>
            <a:ext cx="320000" cy="32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060677" y="3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98AE"/>
                </a:solidFill>
                <a:latin typeface="Segoe UI Black"/>
              </a:rPr>
              <a:t>28.05.2020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0677" y="4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Подключается Сбербанк — последний из крупных</a:t>
            </a:r>
          </a:p>
        </p:txBody>
      </p:sp>
      <p:sp>
        <p:nvSpPr>
          <p:cNvPr id="14" name="Oval 13"/>
          <p:cNvSpPr/>
          <p:nvPr/>
        </p:nvSpPr>
        <p:spPr>
          <a:xfrm>
            <a:off x="3898677" y="3390000"/>
            <a:ext cx="320000" cy="32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18677" y="1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98AE"/>
                </a:solidFill>
                <a:latin typeface="Segoe UI Black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8677" y="2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Кэшбэк-программа; 7+ млрд операций, рост ×2</a:t>
            </a:r>
          </a:p>
        </p:txBody>
      </p:sp>
      <p:sp>
        <p:nvSpPr>
          <p:cNvPr id="17" name="Oval 16"/>
          <p:cNvSpPr/>
          <p:nvPr/>
        </p:nvSpPr>
        <p:spPr>
          <a:xfrm>
            <a:off x="5256677" y="3390000"/>
            <a:ext cx="320000" cy="32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776677" y="3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98AE"/>
                </a:solidFill>
                <a:latin typeface="Segoe UI Black"/>
              </a:rP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6677" y="4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13,4 млрд операций на 69,5 трлн ₽</a:t>
            </a:r>
          </a:p>
        </p:txBody>
      </p:sp>
      <p:sp>
        <p:nvSpPr>
          <p:cNvPr id="20" name="Oval 19"/>
          <p:cNvSpPr/>
          <p:nvPr/>
        </p:nvSpPr>
        <p:spPr>
          <a:xfrm>
            <a:off x="6614677" y="3390000"/>
            <a:ext cx="320000" cy="32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34677" y="1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0098AE"/>
                </a:solidFill>
                <a:latin typeface="Segoe UI Black"/>
              </a:rPr>
              <a:t>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4677" y="2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18,3 млрд операций на 103 трлн ₽</a:t>
            </a:r>
          </a:p>
        </p:txBody>
      </p:sp>
      <p:sp>
        <p:nvSpPr>
          <p:cNvPr id="23" name="Oval 22"/>
          <p:cNvSpPr/>
          <p:nvPr/>
        </p:nvSpPr>
        <p:spPr>
          <a:xfrm>
            <a:off x="7972677" y="3390000"/>
            <a:ext cx="320000" cy="32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2677" y="3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D70E16"/>
                </a:solidFill>
                <a:latin typeface="Segoe UI Black"/>
              </a:rPr>
              <a:t>01.01.2026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2677" y="4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НДС 22% на комиссию эквайринга*</a:t>
            </a:r>
          </a:p>
        </p:txBody>
      </p:sp>
      <p:sp>
        <p:nvSpPr>
          <p:cNvPr id="26" name="Oval 25"/>
          <p:cNvSpPr/>
          <p:nvPr/>
        </p:nvSpPr>
        <p:spPr>
          <a:xfrm>
            <a:off x="9330677" y="3390000"/>
            <a:ext cx="320000" cy="32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50677" y="1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D70E16"/>
                </a:solidFill>
                <a:latin typeface="Segoe UI Black"/>
              </a:rPr>
              <a:t>01.05.2026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0677" y="2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Тарифы Банка России для банков в СБП</a:t>
            </a:r>
          </a:p>
        </p:txBody>
      </p:sp>
      <p:sp>
        <p:nvSpPr>
          <p:cNvPr id="29" name="Oval 28"/>
          <p:cNvSpPr/>
          <p:nvPr/>
        </p:nvSpPr>
        <p:spPr>
          <a:xfrm>
            <a:off x="10688677" y="3390000"/>
            <a:ext cx="320000" cy="32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08677" y="3850000"/>
            <a:ext cx="128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D70E16"/>
                </a:solidFill>
                <a:latin typeface="Segoe UI Black"/>
              </a:rPr>
              <a:t>01.09.2026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8677" y="4180000"/>
            <a:ext cx="128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44C"/>
                </a:solidFill>
                <a:latin typeface="Segoe UI"/>
              </a:rPr>
              <a:t>Старт массового цифрового рубля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3677" y="5450000"/>
            <a:ext cx="27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РЕГУЛЯТОРНЫЕ СОБЫТИЯ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3677" y="547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Красным — изменения, которые меняют цену способа оплаты</a:t>
            </a:r>
          </a:p>
        </p:txBody>
      </p:sp>
      <p:sp>
        <p:nvSpPr>
          <p:cNvPr id="34" name="Oval 33"/>
          <p:cNvSpPr/>
          <p:nvPr/>
        </p:nvSpPr>
        <p:spPr>
          <a:xfrm>
            <a:off x="663677" y="588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3677" y="589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*НДС на эквайринг — по вторичным источникам (закон № 425-ФЗ), сверить с Налоговым кодексом.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ДИНАМИКА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За два года объём СБП вырос в 3,3 раза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России: итоги 2023 (02.02.2024), 2024, 2025 (06.02.2026)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14 /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677" y="1750000"/>
            <a:ext cx="5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Операций в год, млрд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3677" y="2000000"/>
          <a:ext cx="5200000" cy="29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13677" y="1750000"/>
            <a:ext cx="5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Объём в год, трлн ₽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13677" y="2000000"/>
          <a:ext cx="5200000" cy="29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3677" y="4950000"/>
            <a:ext cx="10864000" cy="10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83677" y="53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3677" y="5030000"/>
            <a:ext cx="9114000" cy="8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Объём растёт быстрее числа операций: средняя операция выросла с ~4,4 до ~5,6 тыс. ₽ — в СБП уходят «большие» деньги.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607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608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2023 — «свыше 7 млрд» (взято 7,0); средняя операция — расчёт автора.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ПЕРЕВОДЫ ГРАЖДАН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СБП — главный способ перевести деньги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2026, по количеству операций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15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63677" y="1700000"/>
          <a:ext cx="5300000" cy="45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00000" y="1800000"/>
            <a:ext cx="2700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20000" y="1970000"/>
            <a:ext cx="226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Segoe UI Black"/>
              </a:rPr>
              <a:t>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2696000"/>
            <a:ext cx="2260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через СБП · +7 п.п. за год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0000" y="1800000"/>
            <a:ext cx="2700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0000" y="1970000"/>
            <a:ext cx="226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Segoe UI Black"/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0000" y="2696000"/>
            <a:ext cx="2260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картами · −8 п.п. за год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0000" y="3650000"/>
            <a:ext cx="5630000" cy="2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120000" y="38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4210000"/>
            <a:ext cx="5190000" cy="1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Перевод «по номеру карты» умирает. Битва за переводы закончена — теперь вся борьба идёт за кассу.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НЕОЖИДАННЫЙ ТЕЙК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Почти половина переводов — самому себе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2026; Банк России, СБП IV кв. 2025; лимиты — НСПК, Т—Ж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16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600000" cy="19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160000" cy="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Segoe UI Black"/>
              </a:rPr>
              <a:t>≈ 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864000"/>
            <a:ext cx="3160000" cy="7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переводов C2C по количеству — Me2Me (II кв.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677" y="3900000"/>
            <a:ext cx="3600000" cy="19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3677" y="4070000"/>
            <a:ext cx="3160000" cy="9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Segoe UI Black"/>
              </a:rPr>
              <a:t>&gt; 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677" y="4964000"/>
            <a:ext cx="3160000" cy="7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переводов C2C по объёму — Me2Me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0000" y="1800000"/>
            <a:ext cx="6980000" cy="23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00000" y="1930000"/>
            <a:ext cx="65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Почему люди переводят деньги сами себе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000" y="2450000"/>
            <a:ext cx="65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083542"/>
                </a:solidFill>
                <a:latin typeface="Segoe UI Semibold"/>
              </a:rPr>
              <a:t>Лимиты: </a:t>
            </a:r>
            <a:r>
              <a:rPr sz="1300">
                <a:solidFill>
                  <a:srgbClr val="33444C"/>
                </a:solidFill>
                <a:latin typeface="Segoe UI"/>
              </a:rPr>
              <a:t>бесплатно до 30 млн ₽ в месяц себе и до 100 тыс. ₽ — другим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083542"/>
                </a:solidFill>
                <a:latin typeface="Segoe UI Semibold"/>
              </a:rPr>
              <a:t>Ставки: </a:t>
            </a:r>
            <a:r>
              <a:rPr sz="1300">
                <a:solidFill>
                  <a:srgbClr val="33444C"/>
                </a:solidFill>
                <a:latin typeface="Segoe UI"/>
              </a:rPr>
              <a:t>деньги перекладывают туда, где выше вклад или накопительный счёт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083542"/>
                </a:solidFill>
                <a:latin typeface="Segoe UI Semibold"/>
              </a:rPr>
              <a:t>Кэшбэк: </a:t>
            </a:r>
            <a:r>
              <a:rPr sz="1300">
                <a:solidFill>
                  <a:srgbClr val="33444C"/>
                </a:solidFill>
                <a:latin typeface="Segoe UI"/>
              </a:rPr>
              <a:t>под акции и повышенный кэшбэк конкретного банка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0000" y="4350000"/>
            <a:ext cx="6980000" cy="14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770000" y="45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0000" y="4910000"/>
            <a:ext cx="654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СБП стала «трубопроводом» конкуренции банков за деньги клиентов: переключиться стало бесплатно и мгновенно.</a:t>
            </a:r>
          </a:p>
        </p:txBody>
      </p:sp>
      <p:sp>
        <p:nvSpPr>
          <p:cNvPr id="19" name="Oval 18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лимиты — вторичные источники; причины Me2Me — интерпретация автора.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Почему переводы бесплатны — и кто за это платит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решение от 27.03.2026; НСПК, Т—Ж (лимиты); ключевая ставка — Банк России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17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тариф ЦБ для переводов между людьми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177" y="1800000"/>
            <a:ext cx="2603500" cy="17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83542"/>
                </a:solidFill>
                <a:latin typeface="Segoe UI Black"/>
              </a:rPr>
              <a:t>100 тыс.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бесплатно другим людям в месяц*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06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0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30 млн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0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бесплатно себе в месяц*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1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ключевая ставка с 24.07.2026*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3750000"/>
            <a:ext cx="5300000" cy="20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3677" y="387000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Модель платформы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677" y="4350000"/>
            <a:ext cx="49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Человек — бесплатно: массовость и привычка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Бизнес — платно: 0,4–0,7% с покупки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Банки — копейки ЦБ за операцию с бизнесом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677" y="3750000"/>
            <a:ext cx="5310000" cy="20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433677" y="39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3677" y="4310000"/>
            <a:ext cx="487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Бесплатность для людей — не подарок, а стратегия: так СБП стала привычкой, на которой зарабатывают в бизнес-сценариях.</a:t>
            </a:r>
          </a:p>
        </p:txBody>
      </p:sp>
      <p:sp>
        <p:nvSpPr>
          <p:cNvPr id="25" name="Oval 24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*лимиты и ставка — вторичные источники; трактовка как «платформенной модели» — интерпретация автора.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01 · 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Покупки — 30% операций, но лишь 9% денег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2026; средний перевод — расчёт автора (26,5 трлн ₽ / 3,5 млрд)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18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3677" y="1800000"/>
          <a:ext cx="6600000" cy="39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00000" y="1800000"/>
            <a:ext cx="4030000" cy="1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20000" y="1970000"/>
            <a:ext cx="3590000" cy="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1,7 тыс.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0000" y="2640000"/>
            <a:ext cx="3590000" cy="6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средний чек покупки по СБП (+8% за год)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0000" y="3450000"/>
            <a:ext cx="4030000" cy="15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20000" y="3620000"/>
            <a:ext cx="3590000" cy="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83542"/>
                </a:solidFill>
                <a:latin typeface="Segoe UI Black"/>
              </a:rPr>
              <a:t>≈ 7,6 тыс.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0000" y="4290000"/>
            <a:ext cx="3590000" cy="6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средний перевод между людьми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0" y="5100000"/>
            <a:ext cx="403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Покупки по СБП — частые и небольшие: здесь и идёт конкуренция с картой</a:t>
            </a:r>
          </a:p>
        </p:txBody>
      </p:sp>
      <p:sp>
        <p:nvSpPr>
          <p:cNvPr id="15" name="Oval 14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*«Прочее» — остаток до 100%, в отчёте ЦБ не назван; средний перевод — расчёт автора.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Битва за кассу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Карта против QR, биометрии и кошельков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Карта всё ещё король покупок, но теряет 5 п.п. в 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СПОСОБЫ ОПЛАТЫ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Чем россияне платят за покупки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20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63677" y="1650000"/>
          <a:ext cx="5300000" cy="41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00000" y="1800000"/>
            <a:ext cx="2700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20000" y="1970000"/>
            <a:ext cx="226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−5 п.п.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2696000"/>
            <a:ext cx="2260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доля карт по количеству за год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30000" y="1800000"/>
            <a:ext cx="2700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0000" y="1970000"/>
            <a:ext cx="226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−7 п.п.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0000" y="2696000"/>
            <a:ext cx="2260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доля карт по объёму за год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0000" y="3650000"/>
            <a:ext cx="5630000" cy="20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120000" y="38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4210000"/>
            <a:ext cx="5190000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Карты проигрывают не одному конкуренту, а сразу трём: QR, банковским приложениям и кошелькам маркетплейсов.</a:t>
            </a:r>
          </a:p>
        </p:txBody>
      </p:sp>
      <p:sp>
        <p:nvSpPr>
          <p:cNvPr id="17" name="Oval 16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*«Прочее» (11%) — остаток до 100% (платёжные приложения, биометрия и др.), рассчитан автором.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СРЕДНИЙ ЧЕК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По QR платят за дорогие покупки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2026, средний чек по способам оплаты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21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3677" y="1750000"/>
          <a:ext cx="6800000" cy="4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00000" y="1850000"/>
            <a:ext cx="3830000" cy="30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920000" y="20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0" y="2410000"/>
            <a:ext cx="3390000" cy="2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Чек по QR в 1,7 раза больше карточного. Чем крупнее чек, тем выгоднее продавцу предложить QR вместо карты.</a:t>
            </a:r>
          </a:p>
        </p:txBody>
      </p:sp>
      <p:sp>
        <p:nvSpPr>
          <p:cNvPr id="11" name="Oval 10"/>
          <p:cNvSpPr/>
          <p:nvPr/>
        </p:nvSpPr>
        <p:spPr>
          <a:xfrm>
            <a:off x="7700000" y="50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0000" y="5060000"/>
            <a:ext cx="347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00">
                <a:solidFill>
                  <a:srgbClr val="8A1C20"/>
                </a:solidFill>
                <a:latin typeface="Segoe UI"/>
              </a:rPr>
              <a:t>связь чека и выбора QR — интерпретация автора.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ПРОДАВЦЫ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За год к СБП подключились ещё 790 тыс. точек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2026; Банк России, итоги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22 /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677" y="175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Торговые точки, принимающие СБП, млн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3677" y="2000000"/>
          <a:ext cx="6800000" cy="39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00000"/>
            <a:ext cx="3830000" cy="13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20000" y="1970000"/>
            <a:ext cx="3390000" cy="6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+31%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0" y="2556000"/>
            <a:ext cx="3390000" cy="5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точек за год (2,55 → 3,34 млн)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300000"/>
            <a:ext cx="3830000" cy="13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20000" y="3470000"/>
            <a:ext cx="3390000" cy="6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4056000"/>
            <a:ext cx="3390000" cy="5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всех МСП подключены к СБП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800000"/>
            <a:ext cx="3830000" cy="13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20000" y="4970000"/>
            <a:ext cx="3390000" cy="6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083542"/>
                </a:solidFill>
                <a:latin typeface="Segoe UI Black"/>
              </a:rPr>
              <a:t>4 из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5556000"/>
            <a:ext cx="3390000" cy="5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точек используют СБП (год назад 3 из 10)</a:t>
            </a:r>
          </a:p>
        </p:txBody>
      </p:sp>
      <p:sp>
        <p:nvSpPr>
          <p:cNvPr id="18" name="Oval 17"/>
          <p:cNvSpPr/>
          <p:nvPr/>
        </p:nvSpPr>
        <p:spPr>
          <a:xfrm>
            <a:off x="663677" y="602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677" y="6030000"/>
            <a:ext cx="64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+31% — расчёт автора по данным ЦБ.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ИНФРАСТРУКТУРА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Касса стала «мультиязычной»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23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1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5,4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6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POS-терминалов в стране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77" y="1800000"/>
            <a:ext cx="3454000" cy="15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8677" y="19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83542"/>
                </a:solidFill>
                <a:latin typeface="Segoe UI Black"/>
              </a:rP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677" y="26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терминалов принимают NFC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3677" y="1800000"/>
            <a:ext cx="3454000" cy="1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77" y="19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77" y="26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терминалов принимают QR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77" y="3500000"/>
            <a:ext cx="3454000" cy="15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3677" y="36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83542"/>
                </a:solidFill>
                <a:latin typeface="Segoe UI Black"/>
              </a:rPr>
              <a:t>31%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677" y="43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терминалов и банкоматов — с биометрией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8677" y="3500000"/>
            <a:ext cx="3454000" cy="1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88677" y="36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86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8677" y="43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покупок через Bluetooth (+30% за квартал)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3677" y="3500000"/>
            <a:ext cx="3454000" cy="1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93677" y="3670000"/>
            <a:ext cx="3014000" cy="7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1,1 млрд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77" y="4368000"/>
            <a:ext cx="3014000" cy="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оплат по QR и биометрии за квартал на 1,7 трлн 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3677" y="5250000"/>
            <a:ext cx="10864000" cy="8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83677" y="55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3677" y="5330000"/>
            <a:ext cx="9114000" cy="6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Одна касса понимает карту, QR, лицо и смартфон — выбор способа оплаты стал управляемым.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БИОМЕТРИЯ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Оплата лицом: рост в разы, доля — пока 0,2%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 (II кв. 2026); ComNews, Финанс Mail — данные за 2025 г. (вторичные)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24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≈10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человек в ЕБС (2025)*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1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195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биоплатежей за 2025 год (×6)*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0677" y="1800000"/>
            <a:ext cx="2603500" cy="17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0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83542"/>
                </a:solidFill>
                <a:latin typeface="Segoe UI Black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0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терминалов с биометрией (II кв. 2026)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1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0,2%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доля в платежах (II кв. 2026)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3750000"/>
            <a:ext cx="1086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83677" y="425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3677" y="3830000"/>
            <a:ext cx="9114000" cy="1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Биометрия растёт кратно, но пока это 0,2% платежей. Технология опережает привычку — тот же барьер, что и у цифрового рубля.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677" y="5200000"/>
            <a:ext cx="1086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3444C"/>
                </a:solidFill>
                <a:latin typeface="Segoe UI"/>
              </a:rPr>
              <a:t>Биоэквайринг НСПК работает и с картами «Мир», и с СБП; у Сбера — собственная «оплата улыбкой».</a:t>
            </a:r>
          </a:p>
        </p:txBody>
      </p:sp>
      <p:sp>
        <p:nvSpPr>
          <p:cNvPr id="23" name="Oval 22"/>
          <p:cNvSpPr/>
          <p:nvPr/>
        </p:nvSpPr>
        <p:spPr>
          <a:xfrm>
            <a:off x="663677" y="58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677" y="58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*данные за 2025 год — вторичные источники со ссылкой на ЦБ и ЦБТ.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КЭШБЭК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Почему банки любили карты больше, чем СБП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 (итоги 2023); Т—Ж, Ведомости — кэшбэк 2024–2025; ВТБ — прогноз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25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521333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081333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392 млрд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752000"/>
            <a:ext cx="3081333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кэшбэк банков за 2024 год*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010" y="1800000"/>
            <a:ext cx="3521333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55010" y="1970000"/>
            <a:ext cx="3081333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Segoe UI Black"/>
              </a:rPr>
              <a:t>450–500 млрд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5010" y="2752000"/>
            <a:ext cx="3081333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рублей кэшбэка за 2025 год*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6343" y="1800000"/>
            <a:ext cx="3521333" cy="17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6343" y="1970000"/>
            <a:ext cx="3081333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083542"/>
                </a:solidFill>
                <a:latin typeface="Segoe UI Black"/>
              </a:rPr>
              <a:t>×2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343" y="2752000"/>
            <a:ext cx="3081333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рост СБП в 2023 — драйвер: кэшбэк-программа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77" y="3750000"/>
            <a:ext cx="5300000" cy="20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3677" y="3870000"/>
            <a:ext cx="49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Цепочка денег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77" y="4330000"/>
            <a:ext cx="4900000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Продавец платит комиссию 1,5–2,5%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Часть идёт банку покупателя</a:t>
            </a:r>
          </a:p>
          <a:p>
            <a:pPr>
              <a:spcAft>
                <a:spcPts val="400"/>
              </a:spcAft>
            </a:pPr>
            <a:r>
              <a:rPr sz="900">
                <a:solidFill>
                  <a:srgbClr val="0098AE"/>
                </a:solidFill>
                <a:latin typeface="Segoe UI"/>
              </a:rPr>
              <a:t>●  </a:t>
            </a:r>
            <a:r>
              <a:rPr sz="1300">
                <a:solidFill>
                  <a:srgbClr val="33444C"/>
                </a:solidFill>
                <a:latin typeface="Segoe UI"/>
              </a:rPr>
              <a:t>Из неё платится кэшбэк держателю карты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3677" y="3750000"/>
            <a:ext cx="5310000" cy="20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33677" y="39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3677" y="4310000"/>
            <a:ext cx="4870000" cy="1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Кэшбэк по картам оплачивают продавцы через комиссию. Дешёвая СБП ломает эту модель — поэтому банки не спешили её продвигать.</a:t>
            </a:r>
          </a:p>
        </p:txBody>
      </p:sp>
      <p:sp>
        <p:nvSpPr>
          <p:cNvPr id="22" name="Oval 21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*объёмы кэшбэка — вторичные источники; механизм финансирования кэшбэка — интерпретация автора.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02 · КОНТРТРЕНД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Наличные вернулись, а платёжных Россий — две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«Развитие НПС», II кв. 2026, оплаты картами на 1 жителя за квартал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26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600000" cy="20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16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88,4%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920000"/>
            <a:ext cx="3160000" cy="8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доля безнала в рознице: −0,5 п.п.; впервые вырос оборот наличных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677" y="4000000"/>
            <a:ext cx="3600000" cy="20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83677" y="41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677" y="4560000"/>
            <a:ext cx="3160000" cy="1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Житель СЗФО платит картой в 3,5 раза чаще, чем житель СКФО.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00000" y="1750000"/>
          <a:ext cx="7000000" cy="44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Экономика одного чека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Комиссии, налоги, тарифы и чувствительность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На чеке 1 700 ₽ СБП дешевле карты в 2,6–4,4 раза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ФОРМУЛА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Из чего складывается цена платежа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модель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28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1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014000" cy="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640000"/>
            <a:ext cx="3014000" cy="6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Комиссия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677" y="3450000"/>
            <a:ext cx="3254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Процент от чека: карта 1,5–2,5%, СБП 0,4–0,7%, цифровой рубль 0% → 0,3%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77" y="1800000"/>
            <a:ext cx="3454000" cy="1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88677" y="1970000"/>
            <a:ext cx="3014000" cy="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+22%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677" y="2640000"/>
            <a:ext cx="3014000" cy="6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НДС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8677" y="3450000"/>
            <a:ext cx="3254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С 01.01.2026 — на комиссию эквайринга. Комиссия 1,5% превращается в 1,83%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3677" y="1800000"/>
            <a:ext cx="3454000" cy="1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3677" y="1970000"/>
            <a:ext cx="3014000" cy="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T+0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77" y="2640000"/>
            <a:ext cx="3014000" cy="6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Время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677" y="3450000"/>
            <a:ext cx="3254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СБП — за секунды; карта — обычно на следующий рабочий день (T+1)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4700000"/>
            <a:ext cx="10864000" cy="10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3677" y="4780000"/>
            <a:ext cx="10264000" cy="9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>
                <a:solidFill>
                  <a:srgbClr val="083542"/>
                </a:solidFill>
                <a:latin typeface="Segoe UI Semibold"/>
              </a:rPr>
              <a:t>Цена платежа = </a:t>
            </a:r>
            <a:r>
              <a:rPr sz="1800">
                <a:solidFill>
                  <a:srgbClr val="0098AE"/>
                </a:solidFill>
                <a:latin typeface="Segoe UI Semibold"/>
              </a:rPr>
              <a:t>min(чек × ставка; потолок) × (1 + НДС)</a:t>
            </a:r>
            <a:r>
              <a:rPr sz="1800">
                <a:solidFill>
                  <a:srgbClr val="6B7C85"/>
                </a:solidFill>
                <a:latin typeface="Segoe UI"/>
              </a:rPr>
              <a:t>   — НДС 22% только для карты (допущение)</a:t>
            </a:r>
          </a:p>
        </p:txBody>
      </p:sp>
      <p:sp>
        <p:nvSpPr>
          <p:cNvPr id="21" name="Oval 20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НДС на эквайринг — вторичные источники; отсутствие НДС на комиссию СБП — допущение автора.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ТАРИФЫ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Три способа оплаты — три цены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НСПК, Контур (26.05.2026); Банк России, решение от 28.08.2026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29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10863997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773"/>
                <a:gridCol w="2664754"/>
                <a:gridCol w="2664754"/>
                <a:gridCol w="3074716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Карта (эквайринг)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СБП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Цифровой рубль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Для покупателя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Комиссия продавца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D70E16"/>
                          </a:solidFill>
                          <a:latin typeface="Segoe UI"/>
                        </a:rPr>
                        <a:t>1,5–2,5%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0,4–0,7% (0,2% ЖКУ)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9E6A"/>
                          </a:solidFill>
                          <a:latin typeface="Segoe UI"/>
                        </a:rPr>
                        <a:t>0% в 2026 → 0,3% с 2027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Потолок за операцию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1 500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1 500 ₽*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НДС на комиссию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22% с 01.01.2026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нет*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нет данных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Зачисление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обычно T+1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секунды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Надёжность данных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вторичные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вторичные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решение ЦБ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663677" y="56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677" y="56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*потолок 1 500 ₽ для ЦР — в пересказах «за операцию» и «в месяц»; НДС по СБП — допущение.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ЮНИТ-ЭКОНОМИКА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Сколько продавец платит за один 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расчёт автора; воспроизводится analysis/payment_cost.py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30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10863999" cy="2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481"/>
                <a:gridCol w="2213037"/>
                <a:gridCol w="2213037"/>
                <a:gridCol w="2414222"/>
                <a:gridCol w="2414222"/>
              </a:tblGrid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Segoe UI Semibold"/>
                        </a:rPr>
                        <a:t>Чек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Segoe UI Semibold"/>
                        </a:rPr>
                        <a:t>ЦР 2027 · 0,3%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Segoe UI Semibold"/>
                        </a:rPr>
                        <a:t>СБП · 0,7%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Segoe UI Semibold"/>
                        </a:rPr>
                        <a:t>Карта 1,5% + НДС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Segoe UI Semibold"/>
                        </a:rPr>
                        <a:t>Карта 2,5% + НДС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 Semibold"/>
                        </a:rPr>
                        <a:t>300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9E6A"/>
                          </a:solidFill>
                          <a:latin typeface="Segoe UI"/>
                        </a:rPr>
                        <a:t>0,90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2,10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5,49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D70E16"/>
                          </a:solidFill>
                          <a:latin typeface="Segoe UI"/>
                        </a:rPr>
                        <a:t>9,15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 Semibold"/>
                        </a:rPr>
                        <a:t>1 700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9E6A"/>
                          </a:solidFill>
                          <a:latin typeface="Segoe UI"/>
                        </a:rPr>
                        <a:t>5,10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11,90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31,11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D70E16"/>
                          </a:solidFill>
                          <a:latin typeface="Segoe UI"/>
                        </a:rPr>
                        <a:t>51,85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 Semibold"/>
                        </a:rPr>
                        <a:t>5 000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E9E6A"/>
                          </a:solidFill>
                          <a:latin typeface="Segoe UI"/>
                        </a:rPr>
                        <a:t>15,00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35,00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83542"/>
                          </a:solidFill>
                          <a:latin typeface="Segoe UI"/>
                        </a:rPr>
                        <a:t>91,50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D70E16"/>
                          </a:solidFill>
                          <a:latin typeface="Segoe UI"/>
                        </a:rPr>
                        <a:t>152,50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63677" y="4600000"/>
            <a:ext cx="10864000" cy="11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83677" y="502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3677" y="4680000"/>
            <a:ext cx="9114000" cy="9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Разница между самым дешёвым и самым дорогим способом — в 10 раз. На чеке 1 700 ₽ это 5 ₽ против 52 ₽.</a:t>
            </a:r>
          </a:p>
        </p:txBody>
      </p:sp>
      <p:sp>
        <p:nvSpPr>
          <p:cNvPr id="11" name="Oval 10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допущения: комиссии СБП и ЦР без НДС; ставки СБП и карт — из вторичных источников.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ЧЕК 1 700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Кто сколько берёт с продавца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расчёт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31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3677" y="1750000"/>
          <a:ext cx="7200000" cy="4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00000" y="1800000"/>
            <a:ext cx="3430000" cy="1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0000" y="1970000"/>
            <a:ext cx="299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×2,6–4,4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0000" y="2780000"/>
            <a:ext cx="299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карта дороже СБП (с НДС)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000" y="3750000"/>
            <a:ext cx="3430000" cy="1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20000" y="3920000"/>
            <a:ext cx="2990000" cy="8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×2,3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0000" y="4730000"/>
            <a:ext cx="2990000" cy="7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СБП дороже ЦР с 2027 года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598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599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расчёт автора; допущение — комиссии СБП и ЦР без НДС.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ЧУВСТВИТЕЛЬНОСТЬ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Когда карта могла бы конкурировать с СБП?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расчёт автора; воспроизводится analysis/payment_cost.py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32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750000"/>
          <a:ext cx="6999997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8426"/>
                <a:gridCol w="1808988"/>
                <a:gridCol w="1415730"/>
                <a:gridCol w="1179775"/>
                <a:gridCol w="1337078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Ставка карты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Цена чека 1 700 ₽ с НДС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Без НДС (ОСН)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Дороже СБП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Дороже ЦР 2027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1,0%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20,74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17,00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×1,7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×4,1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1,5%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31,11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25,50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×2,6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×6,1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2,0%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41,48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34,00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×3,5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×8,1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2,5%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51,85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42,50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×4,4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×10,2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3,0%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62,22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51,00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×5,2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×12,2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0000" y="1750000"/>
            <a:ext cx="3630000" cy="18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20000" y="1920000"/>
            <a:ext cx="319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0,57%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0000" y="2758000"/>
            <a:ext cx="3190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ставка эквайринга, при которой карта сравнялась бы с СБП (с НДС)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000" y="3750000"/>
            <a:ext cx="3630000" cy="19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120000" y="39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0000" y="4310000"/>
            <a:ext cx="3190000" cy="1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Вывод устойчив: при любой реальной ставке карта дороже СБП минимум на 70%.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0,57% = 0,7% / 1,22; «без НДС» — для продавца на ОСН, который принимает НДС к вычету.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ДЛЯ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Сколько сэкономит магазин за год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расчёт автора; калькулятор в репозитории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33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6899999" cy="2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428"/>
                <a:gridCol w="2365714"/>
                <a:gridCol w="2562857"/>
              </a:tblGrid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FFFFFF"/>
                          </a:solidFill>
                          <a:latin typeface="Segoe UI Semibold"/>
                        </a:rPr>
                        <a:t>Оборот в месяц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FFFFFF"/>
                          </a:solidFill>
                          <a:latin typeface="Segoe UI Semibold"/>
                        </a:rPr>
                        <a:t>30% оплат → СБП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FFFFFF"/>
                          </a:solidFill>
                          <a:latin typeface="Segoe UI Semibold"/>
                        </a:rPr>
                        <a:t>30% оплат → ЦР (2027)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 Semibold"/>
                        </a:rPr>
                        <a:t>1 млн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62 640 ₽ в год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77 040 ₽ в год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 Semibold"/>
                        </a:rPr>
                        <a:t>3 млн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187 920 ₽ в год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231 120 ₽ в год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 Semibold"/>
                        </a:rPr>
                        <a:t>10 млн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626 400 ₽ в год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83542"/>
                          </a:solidFill>
                          <a:latin typeface="Segoe UI"/>
                        </a:rPr>
                        <a:t>770 400 ₽ в год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00000" y="1800000"/>
            <a:ext cx="3730000" cy="256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50000" y="1920000"/>
            <a:ext cx="3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Допущения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0000" y="2350000"/>
            <a:ext cx="3300000" cy="2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00">
                <a:solidFill>
                  <a:srgbClr val="0098AE"/>
                </a:solidFill>
                <a:latin typeface="Segoe UI"/>
              </a:rPr>
              <a:t>●  </a:t>
            </a:r>
            <a:r>
              <a:rPr sz="1200">
                <a:solidFill>
                  <a:srgbClr val="33444C"/>
                </a:solidFill>
                <a:latin typeface="Segoe UI"/>
              </a:rPr>
              <a:t>карта 2% + НДС 22% = 2,44%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0098AE"/>
                </a:solidFill>
                <a:latin typeface="Segoe UI"/>
              </a:rPr>
              <a:t>●  </a:t>
            </a:r>
            <a:r>
              <a:rPr sz="1200">
                <a:solidFill>
                  <a:srgbClr val="33444C"/>
                </a:solidFill>
                <a:latin typeface="Segoe UI"/>
              </a:rPr>
              <a:t>СБП 0,7%, ЦР 0,3%, без НДС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0098AE"/>
                </a:solidFill>
                <a:latin typeface="Segoe UI"/>
              </a:rPr>
              <a:t>●  </a:t>
            </a:r>
            <a:r>
              <a:rPr sz="1200">
                <a:solidFill>
                  <a:srgbClr val="33444C"/>
                </a:solidFill>
                <a:latin typeface="Segoe UI"/>
              </a:rPr>
              <a:t>НДС не принимается к вычету (УСН)</a:t>
            </a:r>
          </a:p>
          <a:p>
            <a:pPr>
              <a:spcAft>
                <a:spcPts val="400"/>
              </a:spcAft>
            </a:pPr>
            <a:r>
              <a:rPr sz="800">
                <a:solidFill>
                  <a:srgbClr val="0098AE"/>
                </a:solidFill>
                <a:latin typeface="Segoe UI"/>
              </a:rPr>
              <a:t>●  </a:t>
            </a:r>
            <a:r>
              <a:rPr sz="1200">
                <a:solidFill>
                  <a:srgbClr val="33444C"/>
                </a:solidFill>
                <a:latin typeface="Segoe UI"/>
              </a:rPr>
              <a:t>в новый способ уходит 30% оплат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77" y="4600000"/>
            <a:ext cx="10864000" cy="11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83677" y="502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3677" y="4680000"/>
            <a:ext cx="9114000" cy="9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Экономия растёт линейно с оборотом — поэтому крупные сети первыми продвигают оплату по QR.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условный пример: доля 30% и ставка 2% — допущения автора, не прогноз.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ТАРИФЫ ЦБ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ЦБ берёт копейки, основная комиссия — у банков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решение Совета директоров от 27.03.2026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34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4599999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263"/>
                <a:gridCol w="1694736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Segoe UI Semibold"/>
                        </a:rPr>
                        <a:t>Сумма операции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FFFFFF"/>
                          </a:solidFill>
                          <a:latin typeface="Segoe UI Semibold"/>
                        </a:rPr>
                        <a:t>Тариф ЦБ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до 125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0,05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125–250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0,12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250–1 000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0,30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1 000–3 000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0,80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3 000–6 000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2,00 ₽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 Semibold"/>
                        </a:rPr>
                        <a:t>свыше 6 000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83542"/>
                          </a:solidFill>
                          <a:latin typeface="Segoe UI"/>
                        </a:rPr>
                        <a:t>3,00 ₽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00000" y="1800000"/>
            <a:ext cx="28500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20000" y="1970000"/>
            <a:ext cx="24100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0,80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0000" y="2752000"/>
            <a:ext cx="24100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тариф ЦБ на чеке 1 700 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0000" y="1800000"/>
            <a:ext cx="28500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00000" y="1970000"/>
            <a:ext cx="24100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≈0,05%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0000" y="2752000"/>
            <a:ext cx="24100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от суммы чека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0" y="3700000"/>
            <a:ext cx="593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44C"/>
                </a:solidFill>
                <a:latin typeface="Segoe UI"/>
              </a:rPr>
              <a:t>Переводы между людьми, платежи государству и возвраты — 0 ₽. Платят банки, а не покупатель.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0" y="4400000"/>
            <a:ext cx="5930000" cy="13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820000" y="45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0000" y="4960000"/>
            <a:ext cx="549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Из 11,90 ₽ комиссии продавца ЦБ получает около 0,80–1,60 ₽. Остальное — доход банков.</a:t>
            </a:r>
          </a:p>
        </p:txBody>
      </p:sp>
      <p:sp>
        <p:nvSpPr>
          <p:cNvPr id="18" name="Oval 17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оценка автора; верхняя граница последней ступени (1 или 6 млн ₽) расходится в пересказах.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03 · РЕГУЛЯТОР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Рынок двигают не только технологии, но и законы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закон № 425-ФЗ (вторичные); Банк России; закон № 289-ФЗ (Гарант)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35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3677" y="198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93677" y="1970000"/>
            <a:ext cx="1335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01.01.2026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677" y="235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НДС на эквайринг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677" y="2870000"/>
            <a:ext cx="3054000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Карта дороже: 1,5% превращается в 1,83%. Сбер компенсирует малому бизнесу 50% НДС*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77" y="1800000"/>
            <a:ext cx="3454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68677" y="198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598677" y="1970000"/>
            <a:ext cx="1335000" cy="300000"/>
          </a:xfrm>
          <a:prstGeom prst="roundRect">
            <a:avLst>
              <a:gd name="adj" fmla="val 50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01.05.2026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8677" y="235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Тарифы ЦБ в СБП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8677" y="2870000"/>
            <a:ext cx="3054000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0,05–3 ₽ за операцию с бизнесом. Для продавца почти незаметно, но СБП стала платной для банков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3677" y="1800000"/>
            <a:ext cx="3454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73677" y="198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03677" y="1970000"/>
            <a:ext cx="921000" cy="300000"/>
          </a:xfrm>
          <a:prstGeom prst="roundRect">
            <a:avLst>
              <a:gd name="adj" fmla="val 50000"/>
            </a:avLst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289-ФЗ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3677" y="235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Закон о платформах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3677" y="2870000"/>
            <a:ext cx="3054000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Маркетплейсам запрещено ставить цену в зависимости от способа оплаты и банка*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677" y="4700000"/>
            <a:ext cx="10864000" cy="10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83677" y="507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3677" y="4780000"/>
            <a:ext cx="9114000" cy="8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В 2026 году цену способа оплаты сильнее меняет регулятор, чем технология.</a:t>
            </a:r>
          </a:p>
        </p:txBody>
      </p:sp>
      <p:sp>
        <p:nvSpPr>
          <p:cNvPr id="25" name="Oval 24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*компенсация Сбера — вторичный источник; даты вступления норм 289-ФЗ о ценах расходятся.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Риски мгновенности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Мошенничество и защита клиентов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Через СБП — уже 37% всех похищенных денег (II кв.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04 · МОШЕННИЧЕСТВО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Мгновенность — палка о двух концах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обзор операций без согласия клиентов за 2025 г.; Интерфакс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37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18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01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29,3 млрд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808000"/>
            <a:ext cx="3014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похищено у клиентов банков в 2025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77" y="1800000"/>
            <a:ext cx="3454000" cy="18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8677" y="1970000"/>
            <a:ext cx="301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Segoe UI Black"/>
              </a:rPr>
              <a:t>5,9%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677" y="2808000"/>
            <a:ext cx="3014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вернули банки (в 2024 году — 9,9%)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3677" y="1800000"/>
            <a:ext cx="3454000" cy="18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77" y="1970000"/>
            <a:ext cx="301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83542"/>
                </a:solidFill>
                <a:latin typeface="Segoe UI Black"/>
              </a:rPr>
              <a:t>0,00071%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77" y="2808000"/>
            <a:ext cx="3014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доля в объёме всех переводов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77" y="3850000"/>
            <a:ext cx="1086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83677" y="435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3677" y="3930000"/>
            <a:ext cx="9114000" cy="1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Чем быстрее платёж, тем быстрее уходят и украденные деньги. Скорость — преимущество для бизнеса и уязвимость для клиента.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77" y="5300000"/>
            <a:ext cx="1086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3444C"/>
                </a:solidFill>
                <a:latin typeface="Segoe UI"/>
              </a:rPr>
              <a:t>С 01.10.2025 в приложениях крупных банков обязателен сервис для пострадавших: заявление и справка для полиции.</a:t>
            </a:r>
          </a:p>
        </p:txBody>
      </p:sp>
      <p:sp>
        <p:nvSpPr>
          <p:cNvPr id="20" name="Oval 19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статистика по всем переводам без согласия клиента, а не отдельно по СБП.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04 · СБП ВО II КВ.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Через СБП — уже 37% украденного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обзор за II кв. 2026 (cbr.ru/statistics/ib/review_2q_2026); Коммерсантъ FM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38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129 тыс.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операций без согласия через СБП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1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37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2,74 млрд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рублей похищено через СБП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0677" y="1800000"/>
            <a:ext cx="2603500" cy="17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06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Segoe UI Black"/>
              </a:rPr>
              <a:t>≈37%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06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доля СБП в объёме хищений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4177" y="1800000"/>
            <a:ext cx="2603500" cy="17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44177" y="1970000"/>
            <a:ext cx="21635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083542"/>
                </a:solidFill>
                <a:latin typeface="Segoe UI Black"/>
              </a:rPr>
              <a:t>7,35 млрд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177" y="2752000"/>
            <a:ext cx="2163500" cy="7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рублей всего за квартал (459 тыс. операций)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677" y="3750000"/>
            <a:ext cx="1086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83677" y="425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3677" y="3830000"/>
            <a:ext cx="9114000" cy="11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Популярность делает СБП главной целью мошенников. Это цена массовости — и аргумент за защитные механизмы, а не против СБП.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677" y="5200000"/>
            <a:ext cx="1086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3444C"/>
                </a:solidFill>
                <a:latin typeface="Segoe UI"/>
              </a:rPr>
              <a:t>Доля возвращённых средств по СБП: 19,5% по «Коммерсанту» против 2,1% в таблице ЦБ по физлицам — данные несопоставимы.</a:t>
            </a:r>
          </a:p>
        </p:txBody>
      </p:sp>
      <p:sp>
        <p:nvSpPr>
          <p:cNvPr id="23" name="Oval 22"/>
          <p:cNvSpPr/>
          <p:nvPr/>
        </p:nvSpPr>
        <p:spPr>
          <a:xfrm>
            <a:off x="663677" y="58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677" y="58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«рекорд» — по «Коммерсанту»; 37% — расчёт автора (2,74 / 7,35); доля возвратов расходится.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Мир: как это делают другие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Pix, UPI, трансграничная СБП и цифровые валюты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Бразильцы пользуются Pix в 3 раза чаще, чем мы СБП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05 · 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СБП, Pix и UPI: три национальные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России; clearingpost.com (Pix); NPCI через Business Standard, Medianama (UPI)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40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10863998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444"/>
                <a:gridCol w="2816592"/>
                <a:gridCol w="2816592"/>
                <a:gridCol w="311837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СБП · Россия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Pix · Бразилия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UPI · Индия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Запуск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январь 2019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ноябрь 2020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2016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Операций в месяц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≈ 1,7 млрд (II кв. 2026)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8,11 млрд (август 2026)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24,51 млрд (август 2026)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Оператор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Банк России, НСПК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Центральный банк Бразилии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NPCI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Комиссия продавца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0,4–0,7%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нет проверенных данных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0%; с 15.10.2026 — 0,4% на часть платежей*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Доля в рознице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QR по СБП — 3% платежей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29% розничных платежей*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663677" y="53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677" y="53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*доля Pix и комиссия UPI — вторичные источники; «≈1,7 млрд» = 5,1 млрд / 3, расчёт автора.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677" y="5800000"/>
            <a:ext cx="1086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C85"/>
                </a:solidFill>
                <a:latin typeface="Segoe UI"/>
              </a:rPr>
              <a:t>Субсидия вместо комиссии: Индия платит участникам рынка из бюджета (₹2 000 крор на 2026/27 фин. год)*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05 · НА ДУШУ НАСЕЛЕНИЯ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Сколько раз в месяц человек пользуется системой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расчёт автора: операции в месяц / население (≈146 млн, ≈1,45 млрд, ≈213 млн)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41 / 60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3677" y="1750000"/>
          <a:ext cx="6900000" cy="42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00000" y="1800000"/>
            <a:ext cx="3730000" cy="18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20000" y="1970000"/>
            <a:ext cx="329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×3,3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0000" y="2808000"/>
            <a:ext cx="3290000" cy="7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Pix на человека используют чаще, чем СБП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00000" y="3800000"/>
            <a:ext cx="3730000" cy="19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20000" y="39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0000" y="4360000"/>
            <a:ext cx="32900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У СБП большой запас роста: до бразильского уровня ей нужно утроиться.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60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60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население округлено; периоды разные (II кв. 2026 и август 2026) — сравнение ориентировочное.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05 · БЕЗ ГРАНИЦ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Трансграничная СБП: 9 стран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«Известия» (2025); Банк России, решение от 27.03.2026 (тариф 6 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42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Абхазия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3677" y="18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Армения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3677" y="18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Белоруссия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677" y="27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Казахстан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3677" y="27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Киргизия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3677" y="27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Лаос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3677" y="36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Молдавия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3677" y="36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Таджикистан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3677" y="3600000"/>
            <a:ext cx="2200000" cy="7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FFFFFF"/>
                </a:solidFill>
                <a:latin typeface="Segoe UI Semibold"/>
              </a:rPr>
              <a:t>Узбекистан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000" y="1800000"/>
            <a:ext cx="3630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20000" y="1970000"/>
            <a:ext cx="319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Black"/>
              </a:rPr>
              <a:t>6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0000" y="2696000"/>
            <a:ext cx="3190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тариф ЦБ за исходящий трансграничный перевод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0000" y="3600000"/>
            <a:ext cx="3630000" cy="19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20000" y="37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0000" y="4160000"/>
            <a:ext cx="31900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СБП — мост для переводов в ЕАЭС и СНГ, но пока это нишевый сценарий.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677" y="4600000"/>
            <a:ext cx="6900000" cy="11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83677" y="50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ЛИЧНО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3677" y="4680000"/>
            <a:ext cx="5150000" cy="9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Контраст с первой темой: трансграничные расчёты бизнеса так и остались «узким горлышком».</a:t>
            </a:r>
          </a:p>
        </p:txBody>
      </p:sp>
      <p:sp>
        <p:nvSpPr>
          <p:cNvPr id="25" name="Oval 24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список стран — вторичный источник 2025 года; актуальность на 10.2026 нужно сверить с НСПК.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05 · ЦИФРОВЫЕ ВАЛЮТЫ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Цифровые деньги центробанков в мире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ЕЦБ и Еврокомиссия (через euinsider, Banque de France); CoinDesk; Atlantic Council CBDC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43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536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3677" y="198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3677" y="19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Китай · e-CNY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677" y="2490000"/>
            <a:ext cx="496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Крупнейший пилот: 16,7 трлн юаней накопленным итогом к ноябрю 2025*; около 30 операторов в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677" y="1800000"/>
            <a:ext cx="536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63677" y="198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93677" y="19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Еврозона · цифровой евро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677" y="2490000"/>
            <a:ext cx="496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Не раньше 2029 года; тесты с середины 2027; регламент ещё в трилоге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677" y="3500000"/>
            <a:ext cx="536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63677" y="368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3677" y="36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Россия · цифровой рубль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677" y="4190000"/>
            <a:ext cx="496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Массовое внедрение с 01.09.2026; 220 тыс. кошельков за месяц*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677" y="3500000"/>
            <a:ext cx="536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63677" y="3680000"/>
            <a:ext cx="70000" cy="420000"/>
          </a:xfrm>
          <a:prstGeom prst="rect">
            <a:avLst/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93677" y="36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Мир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677" y="4190000"/>
            <a:ext cx="496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Полностью запустили 3 страны: Багамы, Ямайка, Нигерия; 146 стран изучают CBDC*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677" y="5300000"/>
            <a:ext cx="10864000" cy="6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83677" y="547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3677" y="5380000"/>
            <a:ext cx="9114000" cy="4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FFFFF"/>
                </a:solidFill>
                <a:latin typeface="Segoe UI Semibold"/>
              </a:rPr>
              <a:t>Россия опережает еврозону минимум на 2–3 года, но массовость CBDC в мире пока не доказана никем.</a:t>
            </a:r>
          </a:p>
        </p:txBody>
      </p:sp>
      <p:sp>
        <p:nvSpPr>
          <p:cNvPr id="26" name="Oval 25"/>
          <p:cNvSpPr/>
          <p:nvPr/>
        </p:nvSpPr>
        <p:spPr>
          <a:xfrm>
            <a:off x="663677" y="603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677" y="604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*данные по e-CNY, числу стран и кошелькам ЦР — вторичные источники.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Цифровой рубль — третий игрок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Этапы, старт, первый месяц и сценарии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Кошельков открыли вчетверо больше, чем ждал ЦБ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06 · ЭТАПЫ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Три волны внедрения: 2026, 2027, 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России, 15.07.2025; РБК, 23.07.2025; решение ЦБ от 28.08.2026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45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3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3677" y="19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egoe UI Black"/>
              </a:rPr>
              <a:t>01.09.2026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677" y="2650000"/>
            <a:ext cx="30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Крупнейшие банки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3677" y="3150000"/>
            <a:ext cx="3054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3F4F7"/>
                </a:solidFill>
                <a:latin typeface="Segoe UI"/>
              </a:rPr>
              <a:t>Продавцы с выручкой &gt; 120 млн ₽ обязаны принимать ЦР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3677" y="465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Тариф 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77" y="1800000"/>
            <a:ext cx="3454000" cy="3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8677" y="19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egoe UI Black"/>
              </a:rPr>
              <a:t>01.09.2027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8677" y="2650000"/>
            <a:ext cx="30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Универсальные банки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8677" y="3150000"/>
            <a:ext cx="3054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3F4F7"/>
                </a:solidFill>
                <a:latin typeface="Segoe UI"/>
              </a:rPr>
              <a:t>Продавцы с выручкой &gt; 30 млн 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8677" y="465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Тариф 0,3%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3677" y="1800000"/>
            <a:ext cx="3454000" cy="35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3677" y="1980000"/>
            <a:ext cx="305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Segoe UI Black"/>
              </a:rPr>
              <a:t>01.09.2028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3677" y="2650000"/>
            <a:ext cx="30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 Semibold"/>
              </a:rPr>
              <a:t>Все остальные банки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677" y="3150000"/>
            <a:ext cx="3054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3F4F7"/>
                </a:solidFill>
                <a:latin typeface="Segoe UI"/>
              </a:rPr>
              <a:t>Остальные продавцы; освобождены с выручкой &lt; 5 млн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3677" y="465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Тариф 0,3%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87677" y="3400000"/>
            <a:ext cx="290000" cy="3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792677" y="3400000"/>
            <a:ext cx="290000" cy="300000"/>
          </a:xfrm>
          <a:prstGeom prst="rightArrow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3677" y="56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677" y="56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число банков первой волны в публикациях — 12 или 22; сверить с cbr.ru.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06 · СТАРТ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1 сентября 2026: первые десять 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«Известия», 02.09.2026; myfin.by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46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3677" y="1970000"/>
            <a:ext cx="3014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≈87 тыс.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677" y="2696000"/>
            <a:ext cx="3014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кошельков за 10 дней*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77" y="1800000"/>
            <a:ext cx="3454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88677" y="1970000"/>
            <a:ext cx="3014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50 тыс.+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677" y="2696000"/>
            <a:ext cx="3014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операций за 10 дней*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3677" y="1800000"/>
            <a:ext cx="3454000" cy="1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77" y="1970000"/>
            <a:ext cx="3014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30+ 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77" y="2696000"/>
            <a:ext cx="3014000" cy="6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9EA"/>
                </a:solidFill>
                <a:latin typeface="Segoe UI"/>
              </a:rPr>
              <a:t>верификация в Альфа-Банке вместо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77" y="3600000"/>
            <a:ext cx="6300000" cy="21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3677" y="3720000"/>
            <a:ext cx="5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Что пошло не так (по «Известиям»)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77" y="4150000"/>
            <a:ext cx="5800000" cy="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Сбербанк: кнопку ЦР трудно найти в меню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Озон Банк, Райффайзенбанк: ошибки и недоступность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iOS: доступ ограничен, лучше работало на Android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00000" y="3600000"/>
            <a:ext cx="4330000" cy="21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420000" y="37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0000" y="4160000"/>
            <a:ext cx="3890000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Плохой старт, хороший спрос: несмотря на сбои, люди открывали кошельки.</a:t>
            </a:r>
          </a:p>
        </p:txBody>
      </p:sp>
      <p:sp>
        <p:nvSpPr>
          <p:cNvPr id="22" name="Oval 21"/>
          <p:cNvSpPr/>
          <p:nvPr/>
        </p:nvSpPr>
        <p:spPr>
          <a:xfrm>
            <a:off x="663677" y="59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3677" y="59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*87 тыс. и 50 тыс. — вторичный источник, не подтверждён cbr.ru.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06 · ПЕРВЫЙ МЕСЯЦ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Спрос оказался вчетверо выше ожиданий ЦБ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РБ.ру, ТКС.ру, Коммерсантъ — со ссылкой на Банк России (октябрь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47 /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677" y="175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Кошельков цифрового рубля, тыс.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3677" y="2000000"/>
          <a:ext cx="6600000" cy="38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00000" y="1800000"/>
            <a:ext cx="4030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20000" y="1970000"/>
            <a:ext cx="359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egoe UI Black"/>
              </a:rPr>
              <a:t>×3,7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000" y="2528000"/>
            <a:ext cx="3590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AFBFD"/>
                </a:solidFill>
                <a:latin typeface="Segoe UI"/>
              </a:rPr>
              <a:t>факт выше ожидания ЦБ на конец года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0000" y="3250000"/>
            <a:ext cx="1950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20000" y="3420000"/>
            <a:ext cx="151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 Black"/>
              </a:rPr>
              <a:t>150 тыс.+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0000" y="3978000"/>
            <a:ext cx="1510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FE7EC"/>
                </a:solidFill>
                <a:latin typeface="Segoe UI"/>
              </a:rPr>
              <a:t>операций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0000" y="3250000"/>
            <a:ext cx="1950000" cy="130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00000" y="3420000"/>
            <a:ext cx="1510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83542"/>
                </a:solidFill>
                <a:latin typeface="Segoe UI Black"/>
              </a:rPr>
              <a:t>3–5 тыс.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0000" y="3978000"/>
            <a:ext cx="1510000" cy="54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"/>
              </a:rPr>
              <a:t>кошельков в сутки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0000" y="4700000"/>
            <a:ext cx="4030000" cy="11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20000" y="48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0000" y="5260000"/>
            <a:ext cx="359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Но 220 тыс. — это лишь 0,15% населения.</a:t>
            </a:r>
          </a:p>
        </p:txBody>
      </p:sp>
      <p:sp>
        <p:nvSpPr>
          <p:cNvPr id="21" name="Oval 20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вторичные источники со ссылкой на слова Э. Набиуллиной; «кошелёк» и «счёт» в СМИ — синонимы; 0,15% — расчёт автора.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06 · ЛИЦОМ К ЛИЦУ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СБП против цифрового рубля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Банк России; расчёт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48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800000"/>
          <a:ext cx="6999999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363636"/>
                <a:gridCol w="2636363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/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СБП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Segoe UI Semibold"/>
                        </a:rPr>
                        <a:t>Цифровой рубль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Где лежат деньги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счёт в коммерческом банке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кошелёк на платформе Банка России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Проценты на остаток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9E6A"/>
                          </a:solidFill>
                          <a:latin typeface="Segoe UI"/>
                        </a:rPr>
                        <a:t>да (вклад, накопительный счёт)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не начисляются*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Для покупателя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Для продавца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0,4–0,7%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9E6A"/>
                          </a:solidFill>
                          <a:latin typeface="Segoe UI"/>
                        </a:rPr>
                        <a:t>0% в 2026, 0,3% с 2027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 Semibold"/>
                        </a:rPr>
                        <a:t>Масштаб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9E6A"/>
                          </a:solidFill>
                          <a:latin typeface="Segoe UI"/>
                        </a:rPr>
                        <a:t>55% переводов, 3,3 млн продавцов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83542"/>
                          </a:solidFill>
                          <a:latin typeface="Segoe UI"/>
                        </a:rPr>
                        <a:t>≈220 тыс. кошельков за месяц*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0000" y="1800000"/>
            <a:ext cx="3630000" cy="336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120000" y="199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0000" y="2360000"/>
            <a:ext cx="3190000" cy="27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У цифрового рубля есть цена, но нет привычки. У СБП есть привычка, но нет самой низкой цены.</a:t>
            </a:r>
          </a:p>
        </p:txBody>
      </p:sp>
      <p:sp>
        <p:nvSpPr>
          <p:cNvPr id="11" name="Oval 10"/>
          <p:cNvSpPr/>
          <p:nvPr/>
        </p:nvSpPr>
        <p:spPr>
          <a:xfrm>
            <a:off x="663677" y="54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677" y="54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*отсутствие процентов на ЦР и число кошельков — сверить с законом и cbr.ru.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06 · СЦЕНАРИИ 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Что будет с цифровым рублём к 2028 году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сценарии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49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3454000" cy="3550000"/>
          </a:xfrm>
          <a:prstGeom prst="roundRect">
            <a:avLst>
              <a:gd name="adj" fmla="val 8000"/>
            </a:avLst>
          </a:prstGeom>
          <a:solidFill>
            <a:srgbClr val="D5E3E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13677" y="1980000"/>
            <a:ext cx="1400000" cy="300000"/>
          </a:xfrm>
          <a:prstGeom prst="roundRect">
            <a:avLst>
              <a:gd name="adj" fmla="val 50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НИЗКИЙ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3677" y="2450000"/>
            <a:ext cx="305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083542"/>
                </a:solidFill>
                <a:latin typeface="Segoe UI Black"/>
              </a:rPr>
              <a:t>&lt; 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3677" y="3450000"/>
            <a:ext cx="3054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083542"/>
                </a:solidFill>
                <a:latin typeface="Segoe UI"/>
              </a:rPr>
              <a:t>Нишевый инструмент: нет стимула для покупателя, сбои, привычка к СБП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77" y="1800000"/>
            <a:ext cx="3454000" cy="3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16A80"/>
              </a:gs>
              <a:gs pos="100000">
                <a:srgbClr val="19C3D6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8677" y="1980000"/>
            <a:ext cx="1400000" cy="3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083542"/>
                </a:solidFill>
                <a:latin typeface="Segoe UI Semibold"/>
              </a:rPr>
              <a:t>БАЗОВЫЙ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8677" y="2450000"/>
            <a:ext cx="305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Segoe UI Black"/>
              </a:rPr>
              <a:t>1–3%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8677" y="3450000"/>
            <a:ext cx="3054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Segoe UI"/>
              </a:rPr>
              <a:t>Обязательный приём, тариф 0,3% и быстрый старт дают рост, но СБП удерживает привычку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3677" y="1800000"/>
            <a:ext cx="3454000" cy="35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A80A11"/>
              </a:gs>
              <a:gs pos="100000">
                <a:srgbClr val="FF5A5F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323677" y="1980000"/>
            <a:ext cx="1400000" cy="3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083542"/>
                </a:solidFill>
                <a:latin typeface="Segoe UI Semibold"/>
              </a:rPr>
              <a:t>ВЫСОКИЙ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3677" y="2450000"/>
            <a:ext cx="3054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Segoe UI Black"/>
              </a:rPr>
              <a:t>5–10%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3677" y="3450000"/>
            <a:ext cx="3054000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Segoe UI"/>
              </a:rPr>
              <a:t>Зарплаты, пособия и госплатежи в ЦР + выгода продавцам → массовость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677" y="5450000"/>
            <a:ext cx="1086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Доля цифрового рубля в оплате покупок к 2028 году</a:t>
            </a:r>
          </a:p>
        </p:txBody>
      </p:sp>
      <p:sp>
        <p:nvSpPr>
          <p:cNvPr id="20" name="Oval 19"/>
          <p:cNvSpPr/>
          <p:nvPr/>
        </p:nvSpPr>
        <p:spPr>
          <a:xfrm>
            <a:off x="663677" y="588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677" y="589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условные значения автора для обсуждения, не прогноз.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Стратегический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PEST, SWOT, пять сил Портера, стейкхолдеры, модель Кили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Сила СБП — в сети, сила цифрового рубля — в цене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07 · PEST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Внешняя среда рынка платежей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анализ автора на данных разделов 01–06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51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63677" y="1980000"/>
            <a:ext cx="70000" cy="420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3677" y="19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P · Политика и право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677" y="2490000"/>
            <a:ext cx="496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Суверенная инфраструктура (СБП, «Мир», ЦР); ЦБ — регулятор и оператор; закон о ЦР; 289-ФЗ о платформах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63677" y="1980000"/>
            <a:ext cx="70000" cy="420000"/>
          </a:xfrm>
          <a:prstGeom prst="rect">
            <a:avLst/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93677" y="197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E · Экономика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3677" y="2490000"/>
            <a:ext cx="496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Ключевая ставка 14%; НДС 22% на эквайринг; банки сокращают кэшбэк в 2026; впервые растут наличные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63677" y="4030000"/>
            <a:ext cx="70000" cy="420000"/>
          </a:xfrm>
          <a:prstGeom prst="rect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3677" y="402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S · Общество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677" y="4540000"/>
            <a:ext cx="496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7 из 10 россиян переводят через СБП (IV кв. 2025); привычка к QR; разрыв регионов в 3,5 раза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63677" y="4030000"/>
            <a:ext cx="70000" cy="420000"/>
          </a:xfrm>
          <a:prstGeom prst="rect">
            <a:avLst/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93677" y="4020000"/>
            <a:ext cx="496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T · Технологии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677" y="4540000"/>
            <a:ext cx="49600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33444C"/>
                </a:solidFill>
                <a:latin typeface="Segoe UI"/>
              </a:rPr>
              <a:t>QR в 70% терминалов, биометрия в 31%, Bluetooth +30%; офлайн-оплата смарт-часами (НСПК, 2П 2026)</a:t>
            </a:r>
          </a:p>
        </p:txBody>
      </p:sp>
      <p:sp>
        <p:nvSpPr>
          <p:cNvPr id="23" name="Oval 22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оценки — авторские; «7 из 10» — Банк России (IV кв. 2025); офлайн-оплата часами — анонс НСПК.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07 ·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SWOT-анализ СБП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анализ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52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63677" y="180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3677" y="187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S · Сильные стороны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77" y="236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1E9E6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Секунды и 24/7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1E9E6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0,4–0,7% против 1,5–2,5% у карты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1E9E6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Все банки в одной сети, 3,3 млн продавцов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63677" y="180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3677" y="187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W · Слабые стороны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3677" y="236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Нет стимула для покупателя (кэшбэк)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Нужно открыть приложение банка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37% украденного — через СБП (II кв. 2026)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63677" y="385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3677" y="392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O · Возможности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77" y="441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Рост доли в покупках (сейчас 3% по QR)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B2B ×3, платежи в бюджет +65%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До уровня Pix — ×3,3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63677" y="385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3677" y="392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T · Угрозы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3677" y="441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F4A62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ЦР дешевле в 2,3 раза с 2027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F4A62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Кошельки маркетплейсов (11% оплат)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F4A62A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Рост наличных, новые тарифы</a:t>
            </a:r>
          </a:p>
        </p:txBody>
      </p:sp>
      <p:sp>
        <p:nvSpPr>
          <p:cNvPr id="23" name="Oval 22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оценки — авторские; цифры — из слайдов 15–43.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07 · ПЯТЬ СИЛ ПОРТЕРА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Рынок приёма платежей: кто на кого давит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анализ автора по модели М. Портера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53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77" y="1750000"/>
            <a:ext cx="3454000" cy="1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48677" y="1850000"/>
            <a:ext cx="19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Поставщики инфраструктуры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2677" y="186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ВЫСОКАЯ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8677" y="2370000"/>
            <a:ext cx="309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ЦБ и НСПК — монополисты СБП и «Мира», задают тарифы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77" y="3250000"/>
            <a:ext cx="3454000" cy="1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3677" y="3350000"/>
            <a:ext cx="19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Новые игроки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7677" y="336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СРЕДНЯЯ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677" y="3870000"/>
            <a:ext cx="309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Кошельки маркетплейсов, цифровой рубль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77" y="3250000"/>
            <a:ext cx="345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270000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48677" y="3350000"/>
            <a:ext cx="19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 Semibold"/>
              </a:rPr>
              <a:t>Конкуренция в отрасли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42677" y="336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ВЫСОКАЯ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8677" y="3870000"/>
            <a:ext cx="309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E3F4F7"/>
                </a:solidFill>
                <a:latin typeface="Segoe UI"/>
              </a:rPr>
              <a:t>Банки-эквайеры; карта против СБП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3677" y="3250000"/>
            <a:ext cx="3454000" cy="1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3677" y="3350000"/>
            <a:ext cx="19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Субституты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7677" y="336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ВЫСОКАЯ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3677" y="3870000"/>
            <a:ext cx="309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QR, кошельки, ЦР, наличные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8677" y="4750000"/>
            <a:ext cx="3454000" cy="1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8677" y="4850000"/>
            <a:ext cx="1954000" cy="4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Покупатели услуги (продавцы)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2677" y="486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00" b="0">
                <a:solidFill>
                  <a:srgbClr val="FFFFFF"/>
                </a:solidFill>
                <a:latin typeface="Segoe UI Semibold"/>
              </a:rPr>
              <a:t>РАСТЁТ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8677" y="5370000"/>
            <a:ext cx="3094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Выбирают способ, считают комиссию, крупные сети торгуются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3677" y="1750000"/>
            <a:ext cx="345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293677" y="19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77" y="2310000"/>
            <a:ext cx="3014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Продавец получил силу выбора — и это главный сдвиг рынка.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677" y="1750000"/>
            <a:ext cx="3454000" cy="13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83677" y="194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ТЕЙК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677" y="2310000"/>
            <a:ext cx="3014000" cy="6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FFFFF"/>
                </a:solidFill>
                <a:latin typeface="Segoe UI Semibold"/>
              </a:rPr>
              <a:t>Инфраструктура в руках регулятора: цену задаёт не рынок, а тариф.</a:t>
            </a:r>
          </a:p>
        </p:txBody>
      </p:sp>
      <p:sp>
        <p:nvSpPr>
          <p:cNvPr id="33" name="Oval 32"/>
          <p:cNvSpPr/>
          <p:nvPr/>
        </p:nvSpPr>
        <p:spPr>
          <a:xfrm>
            <a:off x="663677" y="61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677" y="61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оценки силы — экспертное суждение автора.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07 · СТЕЙКХОЛДЕРЫ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Кто выигрывает, а кто теряет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анализ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54 / 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3677" y="1750000"/>
          <a:ext cx="10863999" cy="39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000"/>
                <a:gridCol w="3847666"/>
                <a:gridCol w="4074000"/>
                <a:gridCol w="905333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 Semibold"/>
                        </a:rPr>
                        <a:t>Участник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 Semibold"/>
                        </a:rPr>
                        <a:t>Выигрывает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 Semibold"/>
                        </a:rPr>
                        <a:t>Теряет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Segoe UI Semibold"/>
                        </a:rPr>
                        <a:t>Итог</a:t>
                      </a:r>
                    </a:p>
                  </a:txBody>
                  <a:tcPr marL="100000" marR="100000" marT="40000" marB="40000" anchor="ctr">
                    <a:solidFill>
                      <a:srgbClr val="08354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Покупатель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Бесплатные мгновенные переводы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Меньше кэшбэка; риск мошенничества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9E6A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Продавец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Комиссия ниже в 2,6–4,4 раза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Нужно перестраивать кассу и привычки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9E6A"/>
                          </a:solidFill>
                          <a:latin typeface="Segoe UI"/>
                        </a:rPr>
                        <a:t>++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Банки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Конкуренция за клиентов через Me2Me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Комиссия и кэшбэк-модель карт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4A62A"/>
                          </a:solidFill>
                          <a:latin typeface="Segoe UI"/>
                        </a:rPr>
                        <a:t>±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Банк России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Контроль инфраструктуры, тарифы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Ответственность за сбои и мошенничество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9E6A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Государство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Прослеживаемость, налоги, ЦР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Затраты на внедрение ЦР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E9E6A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marL="100000" marR="100000" marT="40000" marB="40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 Semibold"/>
                        </a:rPr>
                        <a:t>Маркетплейсы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Свои кошельки (11% оплат)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83542"/>
                          </a:solidFill>
                          <a:latin typeface="Segoe UI"/>
                        </a:rPr>
                        <a:t>Запрет скидок за способ оплаты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D70E16"/>
                          </a:solidFill>
                          <a:latin typeface="Segoe UI"/>
                        </a:rPr>
                        <a:t>−</a:t>
                      </a:r>
                    </a:p>
                  </a:txBody>
                  <a:tcPr marL="100000" marR="100000" marT="40000" marB="4000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663677" y="58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677" y="58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оценки «выигрывает/теряет» — суждение автора на данных исследования.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07 · МОДЕЛЬ КИЛИ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Какая это инновация: 10 типов Л. Кили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Keeley L. et al. Ten Types of Innovation (2013); оценки автора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55 /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677" y="1800000"/>
            <a:ext cx="30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Тип инновации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677" y="1800000"/>
            <a:ext cx="1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98AE"/>
                </a:solidFill>
                <a:latin typeface="Segoe UI Semibold"/>
              </a:rPr>
              <a:t>СБП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3677" y="180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70E16"/>
                </a:solidFill>
                <a:latin typeface="Segoe UI Semibold"/>
              </a:rPr>
              <a:t>Цифровой рубль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3677" y="1800000"/>
            <a:ext cx="3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C85"/>
                </a:solidFill>
                <a:latin typeface="Segoe UI Semibold"/>
              </a:rPr>
              <a:t>Почему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3677" y="2200000"/>
            <a:ext cx="10864000" cy="56000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677" y="234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Модель прибыли</a:t>
            </a:r>
          </a:p>
        </p:txBody>
      </p:sp>
      <p:sp>
        <p:nvSpPr>
          <p:cNvPr id="13" name="Oval 12"/>
          <p:cNvSpPr/>
          <p:nvPr/>
        </p:nvSpPr>
        <p:spPr>
          <a:xfrm>
            <a:off x="4063677" y="239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293677" y="239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23677" y="239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753677" y="239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63677" y="239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93677" y="239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123677" y="239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353677" y="239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63677" y="234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ЦР: 0% → 0,3% против 0,4–0,7%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3677" y="2840000"/>
            <a:ext cx="10864000" cy="56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3677" y="298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Сеть</a:t>
            </a:r>
          </a:p>
        </p:txBody>
      </p:sp>
      <p:sp>
        <p:nvSpPr>
          <p:cNvPr id="24" name="Oval 23"/>
          <p:cNvSpPr/>
          <p:nvPr/>
        </p:nvSpPr>
        <p:spPr>
          <a:xfrm>
            <a:off x="4063677" y="303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293677" y="303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523677" y="303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753677" y="303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5663677" y="303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5893677" y="303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123677" y="303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353677" y="303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63677" y="298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СБП объединила все банки и 3,3 млн продавцов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3677" y="3480000"/>
            <a:ext cx="10864000" cy="56000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3677" y="362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Процесс</a:t>
            </a:r>
          </a:p>
        </p:txBody>
      </p:sp>
      <p:sp>
        <p:nvSpPr>
          <p:cNvPr id="35" name="Oval 34"/>
          <p:cNvSpPr/>
          <p:nvPr/>
        </p:nvSpPr>
        <p:spPr>
          <a:xfrm>
            <a:off x="4063677" y="367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293677" y="367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523677" y="367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753677" y="367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5663677" y="367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5893677" y="367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123677" y="367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353677" y="367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563677" y="362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СБП: QR и секунды; ЦР: сбои старта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3677" y="4120000"/>
            <a:ext cx="10864000" cy="56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13677" y="426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Канал</a:t>
            </a:r>
          </a:p>
        </p:txBody>
      </p:sp>
      <p:sp>
        <p:nvSpPr>
          <p:cNvPr id="46" name="Oval 45"/>
          <p:cNvSpPr/>
          <p:nvPr/>
        </p:nvSpPr>
        <p:spPr>
          <a:xfrm>
            <a:off x="4063677" y="431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4293677" y="431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4523677" y="431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753677" y="431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663677" y="431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893677" y="431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6123677" y="431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6353677" y="431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563677" y="426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СБП в приложении любого банка; ЦР — глубоко в меню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3677" y="4760000"/>
            <a:ext cx="10864000" cy="560000"/>
          </a:xfrm>
          <a:prstGeom prst="roundRect">
            <a:avLst>
              <a:gd name="adj" fmla="val 15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3677" y="490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83542"/>
                </a:solidFill>
                <a:latin typeface="Segoe UI Semibold"/>
              </a:rPr>
              <a:t>Взаимодействие с клиентом</a:t>
            </a:r>
          </a:p>
        </p:txBody>
      </p:sp>
      <p:sp>
        <p:nvSpPr>
          <p:cNvPr id="57" name="Oval 56"/>
          <p:cNvSpPr/>
          <p:nvPr/>
        </p:nvSpPr>
        <p:spPr>
          <a:xfrm>
            <a:off x="4063677" y="495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4293677" y="495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4523677" y="495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4753677" y="4955000"/>
            <a:ext cx="170000" cy="17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663677" y="495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893677" y="4955000"/>
            <a:ext cx="170000" cy="1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6123677" y="495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6353677" y="4955000"/>
            <a:ext cx="170000" cy="170000"/>
          </a:xfrm>
          <a:prstGeom prst="ellipse">
            <a:avLst/>
          </a:prstGeom>
          <a:solidFill>
            <a:srgbClr val="D5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563677" y="4900000"/>
            <a:ext cx="39000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444C"/>
                </a:solidFill>
                <a:latin typeface="Segoe UI"/>
              </a:rPr>
              <a:t>СБП — привычка; у ЦР — быстрый, но ранний спрос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3677" y="5450000"/>
            <a:ext cx="10864000" cy="60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883677" y="5600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ИНСАЙТ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13677" y="5530000"/>
            <a:ext cx="9114000" cy="4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Главная инновация СБП — сетевая: она сделала банки взаимозаменяемыми.</a:t>
            </a:r>
          </a:p>
        </p:txBody>
      </p:sp>
      <p:sp>
        <p:nvSpPr>
          <p:cNvPr id="69" name="Oval 68"/>
          <p:cNvSpPr/>
          <p:nvPr/>
        </p:nvSpPr>
        <p:spPr>
          <a:xfrm>
            <a:off x="663677" y="608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3677" y="609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оценки 1–4 — экспертное суждение автора, а не данные.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677" y="900000"/>
            <a:ext cx="600000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FFFF">
                    <a:alpha val="22000"/>
                  </a:srgbClr>
                </a:solidFill>
                <a:latin typeface="Segoe UI Black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3677" y="3050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Segoe UI Semibold"/>
              </a:rPr>
              <a:t>Продукт и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3950000"/>
            <a:ext cx="9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D6EEF2"/>
                </a:solidFill>
                <a:latin typeface="Segoe UI"/>
              </a:rPr>
              <a:t>Исследование, превращённое в инструмент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3677" y="4850000"/>
            <a:ext cx="9600000" cy="7600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43677" y="508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Segoe UI Semibold"/>
              </a:rPr>
              <a:t>ГЛАВНЫЙ ТЕЙК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3677" y="4990000"/>
            <a:ext cx="7600000" cy="5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 Semibold"/>
              </a:rPr>
              <a:t>Калькулятор: любой продавец считает свою цену платежа за минуту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FE7EC"/>
                </a:solidFill>
                <a:latin typeface="Segoe UI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08 ·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sbp-economics: калькулятор и дашборд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github.com/antonshkelll/sbp-economics · калькулятор: antonshkelll.github.io/sbp-economics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57 / 60</a:t>
            </a:r>
          </a:p>
        </p:txBody>
      </p:sp>
      <p:pic>
        <p:nvPicPr>
          <p:cNvPr id="7" name="Picture 6" descr="app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7" y="1750000"/>
            <a:ext cx="5900000" cy="42142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0000" y="1750000"/>
            <a:ext cx="4680000" cy="2650000"/>
          </a:xfrm>
          <a:prstGeom prst="roundRect">
            <a:avLst>
              <a:gd name="adj" fmla="val 8000"/>
            </a:avLst>
          </a:prstGeom>
          <a:solidFill>
            <a:srgbClr val="EAF6F8"/>
          </a:soli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00000" y="1870000"/>
            <a:ext cx="42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83542"/>
                </a:solidFill>
                <a:latin typeface="Segoe UI Semibold"/>
              </a:rPr>
              <a:t>Что умеет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000" y="2330000"/>
            <a:ext cx="4200000" cy="20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Цена чека: карта, СБП, цифровой рубль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Учёт НДС по налоговому режиму (УСН/ОСН)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Экономия в год при переводе доли оплат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Дашборд: 8 графиков по данным ЦБ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Источник и статус у каждой цифры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0000" y="4550000"/>
            <a:ext cx="4680000" cy="12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016A80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00000" y="4650000"/>
            <a:ext cx="4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9C3D6"/>
                </a:solidFill>
                <a:latin typeface="Segoe UI Semibold"/>
              </a:rPr>
              <a:t>Внутри репозитория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000" y="4980000"/>
            <a:ext cx="42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Segoe UI"/>
              </a:rPr>
              <a:t>docs/ — сайт (GitHub Pages)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Segoe UI"/>
              </a:rPr>
              <a:t>analysis/ — Python и тесты · data/ — 13 CSV</a:t>
            </a:r>
          </a:p>
          <a:p>
            <a:pPr algn="l"/>
            <a:r>
              <a:rPr sz="1150" b="0">
                <a:solidFill>
                  <a:srgbClr val="FFFFFF"/>
                </a:solidFill>
                <a:latin typeface="Segoe UI"/>
              </a:rPr>
              <a:t>research/ — отчёт · presentation/ — слайды</a:t>
            </a:r>
          </a:p>
        </p:txBody>
      </p:sp>
      <p:sp>
        <p:nvSpPr>
          <p:cNvPr id="14" name="Oval 13"/>
          <p:cNvSpPr/>
          <p:nvPr/>
        </p:nvSpPr>
        <p:spPr>
          <a:xfrm>
            <a:off x="663677" y="600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3677" y="601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950">
                <a:solidFill>
                  <a:srgbClr val="8A1C20"/>
                </a:solidFill>
                <a:latin typeface="Segoe UI"/>
              </a:rPr>
              <a:t>калькулятор использует те же допущения, что и исследование; не является финансовой рекомендацией.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08 · 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Что делать каждому участнику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677" y="6388000"/>
            <a:ext cx="93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Segoe UI"/>
              </a:rPr>
              <a:t>Источник: рекомендации автора на основе исследования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58 /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63677" y="180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3677" y="187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Продавцу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677" y="236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Предлагать QR на крупных чеках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Посчитать экономию в калькуляторе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098AE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С выручкой &gt; 30 млн ₽ — готовиться к ЦР к 01.09.2027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677" y="180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63677" y="180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01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3677" y="187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Банку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3677" y="236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016A80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Зарабатывать на сервисах вокруг СБП, а не на комиссии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16A80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Сделать ЦР видимым в приложении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16A80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Удерживать клиентов сервисом, а не барьерами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63677" y="385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083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3677" y="392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Регулятору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77" y="441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083542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Ежемесячная статистика по ЦР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83542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Прозрачные тарифы и потолки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083542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Отдельная статистика возвратов по СБП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677" y="3850000"/>
            <a:ext cx="536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163677" y="3850000"/>
            <a:ext cx="5360000" cy="420000"/>
          </a:xfrm>
          <a:prstGeom prst="roundRect">
            <a:avLst>
              <a:gd name="adj" fmla="val 25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63677" y="3920000"/>
            <a:ext cx="496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 Semibold"/>
              </a:rPr>
              <a:t>Покупателю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3677" y="4410000"/>
            <a:ext cx="496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Проверять получателя перед переводом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Пользоваться бесплатными лимитами</a:t>
            </a:r>
          </a:p>
          <a:p>
            <a:pPr>
              <a:spcAft>
                <a:spcPts val="300"/>
              </a:spcAft>
            </a:pPr>
            <a:r>
              <a:rPr sz="850">
                <a:solidFill>
                  <a:srgbClr val="D70E16"/>
                </a:solidFill>
                <a:latin typeface="Segoe UI"/>
              </a:rPr>
              <a:t>●  </a:t>
            </a:r>
            <a:r>
              <a:rPr sz="1250">
                <a:solidFill>
                  <a:srgbClr val="33444C"/>
                </a:solidFill>
                <a:latin typeface="Segoe UI"/>
              </a:rPr>
              <a:t>Сервис для пострадавших в приложении банка</a:t>
            </a:r>
          </a:p>
        </p:txBody>
      </p:sp>
      <p:sp>
        <p:nvSpPr>
          <p:cNvPr id="23" name="Oval 22"/>
          <p:cNvSpPr/>
          <p:nvPr/>
        </p:nvSpPr>
        <p:spPr>
          <a:xfrm>
            <a:off x="663677" y="5950000"/>
            <a:ext cx="270000" cy="27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Segoe UI Black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677" y="5960000"/>
            <a:ext cx="101400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>
                <a:solidFill>
                  <a:srgbClr val="D70E16"/>
                </a:solidFill>
                <a:latin typeface="Segoe UI Semibold"/>
              </a:rPr>
              <a:t>Проверить: </a:t>
            </a:r>
            <a:r>
              <a:rPr sz="1050">
                <a:solidFill>
                  <a:srgbClr val="8A1C20"/>
                </a:solidFill>
                <a:latin typeface="Segoe UI"/>
              </a:rPr>
              <a:t>рекомендации — авторские, носят учебный характер.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08 ·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Пять выводов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59 / 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677" y="1750000"/>
            <a:ext cx="536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83677" y="1950000"/>
            <a:ext cx="560000" cy="560000"/>
          </a:xfrm>
          <a:prstGeom prst="ellipse">
            <a:avLst/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3677" y="1950000"/>
            <a:ext cx="42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СБП — уже инфраструктура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3677" y="2370000"/>
            <a:ext cx="42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44C"/>
                </a:solidFill>
                <a:latin typeface="Segoe UI"/>
              </a:rPr>
              <a:t>103 трлн ₽ за 2025 год, 55% переводов, 3,3 млн продавцов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3677" y="305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009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ФАКТ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677" y="1750000"/>
            <a:ext cx="536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383677" y="1950000"/>
            <a:ext cx="560000" cy="560000"/>
          </a:xfrm>
          <a:prstGeom prst="ellipse">
            <a:avLst/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3677" y="1950000"/>
            <a:ext cx="42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Цена важна, но не везде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3677" y="2370000"/>
            <a:ext cx="42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44C"/>
                </a:solidFill>
                <a:latin typeface="Segoe UI"/>
              </a:rPr>
              <a:t>В покупках решает цена для продавца; в переводах — бесплатность (Me2Me)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3677" y="305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H1 · ЧАСТИЧНО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677" y="3600000"/>
            <a:ext cx="536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83677" y="3800000"/>
            <a:ext cx="560000" cy="5600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3677" y="3800000"/>
            <a:ext cx="42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Разрыв пережил 2026 год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3677" y="4220000"/>
            <a:ext cx="42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44C"/>
                </a:solidFill>
                <a:latin typeface="Segoe UI"/>
              </a:rPr>
              <a:t>С НДС и тарифами ЦБ СБП дешевле карты в 2,6–4,4 раза; карта сравнялась бы при 0,57%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13677" y="490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H2 · ПОДТВЕРЖДЕНА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677" y="3600000"/>
            <a:ext cx="536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CE8EC"/>
            </a:solidFill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3677" y="3800000"/>
            <a:ext cx="560000" cy="56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3677" y="3800000"/>
            <a:ext cx="42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83542"/>
                </a:solidFill>
                <a:latin typeface="Segoe UI Semibold"/>
              </a:rPr>
              <a:t>У ЦР есть цена и спрос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3677" y="4220000"/>
            <a:ext cx="425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44C"/>
                </a:solidFill>
                <a:latin typeface="Segoe UI"/>
              </a:rPr>
              <a:t>0,3% против 0,7%; 220 тыс. кошельков — ×3,7 к ожиданию ЦБ. Барьер — привычка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13677" y="4900000"/>
            <a:ext cx="200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H3 · ПЕРЕСМОТРЕНА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3677" y="5500000"/>
            <a:ext cx="10864000" cy="65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83542"/>
              </a:gs>
              <a:gs pos="100000">
                <a:srgbClr val="246568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83542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83677" y="5675000"/>
            <a:ext cx="1150000" cy="300000"/>
          </a:xfrm>
          <a:prstGeom prst="roundRect">
            <a:avLst>
              <a:gd name="adj" fmla="val 50000"/>
            </a:avLst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0" bIns="0"/>
          <a:lstStyle/>
          <a:p>
            <a:pPr algn="ctr"/>
            <a:r>
              <a:rPr sz="950" b="0">
                <a:solidFill>
                  <a:srgbClr val="FFFFFF"/>
                </a:solidFill>
                <a:latin typeface="Segoe UI Semibold"/>
              </a:rPr>
              <a:t>ВЫВОД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3677" y="5580000"/>
            <a:ext cx="9114000" cy="4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5. В 2026 году цену платежа сильнее меняет регулятор, чем технология.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3677" y="470000"/>
            <a:ext cx="420000" cy="55000"/>
          </a:xfrm>
          <a:prstGeom prst="rect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83677" y="395000"/>
            <a:ext cx="700000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098AE"/>
                </a:solidFill>
                <a:latin typeface="Segoe UI Semibold"/>
              </a:rPr>
              <a:t>08 ·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7" y="650000"/>
            <a:ext cx="86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0">
                <a:solidFill>
                  <a:srgbClr val="083542"/>
                </a:solidFill>
                <a:latin typeface="Segoe UI Semibold"/>
              </a:rPr>
              <a:t>Источники и честный статус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2000" y="6388000"/>
            <a:ext cx="9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Segoe UI"/>
              </a:rPr>
              <a:t>60 / 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3677" y="1800000"/>
            <a:ext cx="6300000" cy="4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Банк России. Развитие НПС, I и II кв. 2026; итоги СБП 2023–2025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Банк России. Решения о тарифах: СБП (27.03.2026), ЦР (28.08.2026)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Банк России. Внедрение ЦР (15.07.2025); обзоры операций без согласия (2025, II кв. 2026)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РБК; «Известия»; Коммерсантъ; РБ.ру, ТКС.ру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НСПК, Контур, Т—Ж — тарифы и лимиты (вторичные)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clearingpost.com (Pix); Business Standard, Medianama (UPI)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ЕЦБ, euinsider; CoinDesk; Atlantic Council CBDC Tracker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ComNews, Финанс Mail — биометрия; Т—Ж, Ведомости — кэшбэк</a:t>
            </a:r>
          </a:p>
          <a:p>
            <a:pPr>
              <a:spcAft>
                <a:spcPts val="500"/>
              </a:spcAft>
            </a:pPr>
            <a:r>
              <a:rPr sz="750">
                <a:solidFill>
                  <a:srgbClr val="0098AE"/>
                </a:solidFill>
                <a:latin typeface="Segoe UI"/>
              </a:rPr>
              <a:t>●  </a:t>
            </a:r>
            <a:r>
              <a:rPr sz="1150">
                <a:solidFill>
                  <a:srgbClr val="33444C"/>
                </a:solidFill>
                <a:latin typeface="Segoe UI"/>
              </a:rPr>
              <a:t>Keeley L. et al. Ten Types of Innovation (2013); Porter M. Competitive Strategy (1980)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0000" y="1800000"/>
            <a:ext cx="4280000" cy="95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00000" y="1920000"/>
            <a:ext cx="300000" cy="300000"/>
          </a:xfrm>
          <a:prstGeom prst="ellipse">
            <a:avLst/>
          </a:prstGeom>
          <a:solidFill>
            <a:srgbClr val="1E9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50000" y="190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Проверено по первоисточнику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0000" y="2220000"/>
            <a:ext cx="3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статистика СБП и платежей, тарифы ЦБ, этапы ЦР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0000" y="2850000"/>
            <a:ext cx="4280000" cy="95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400000" y="2970000"/>
            <a:ext cx="300000" cy="300000"/>
          </a:xfrm>
          <a:prstGeom prst="ellipse">
            <a:avLst/>
          </a:prstGeom>
          <a:solidFill>
            <a:srgbClr val="F4A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50000" y="295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Вторичные источники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000" y="3270000"/>
            <a:ext cx="3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НДС на эквайринг, комиссии, Pix, UPI, первый месяц ЦР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50000" y="3900000"/>
            <a:ext cx="4280000" cy="95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400000" y="4020000"/>
            <a:ext cx="300000" cy="300000"/>
          </a:xfrm>
          <a:prstGeom prst="ellipse">
            <a:avLst/>
          </a:prstGeom>
          <a:solidFill>
            <a:srgbClr val="D7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50000" y="400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Спорное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0000" y="4320000"/>
            <a:ext cx="3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граница тарифа ЦБ, 12 или 22 банка, потолок ЦР, возвраты по СБП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0000" y="4950000"/>
            <a:ext cx="4280000" cy="95000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400000" y="5070000"/>
            <a:ext cx="300000" cy="300000"/>
          </a:xfrm>
          <a:prstGeom prst="ellipse">
            <a:avLst/>
          </a:prstGeom>
          <a:solidFill>
            <a:srgbClr val="9AA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850000" y="5050000"/>
            <a:ext cx="36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83542"/>
                </a:solidFill>
                <a:latin typeface="Segoe UI Semibold"/>
              </a:rPr>
              <a:t>Авторское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0000" y="5370000"/>
            <a:ext cx="3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44C"/>
                </a:solidFill>
                <a:latin typeface="Segoe UI"/>
              </a:rPr>
              <a:t>расчёты, сценарии, SWOT, Портер, Кили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677" y="6080000"/>
            <a:ext cx="10864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C85"/>
                </a:solidFill>
                <a:latin typeface="Segoe UI"/>
              </a:rPr>
              <a:t>Данные на 20.10.2026 · Шкель А. А., ПрИнж25-1 · код и данные: github.com/antonshkelll/sbp-economics · калькулятор: antonshkelll.github.io/sbp-economics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ля презентации">
      <a:dk1>
        <a:srgbClr val="083542"/>
      </a:dk1>
      <a:lt1>
        <a:srgbClr val="FFFFFF"/>
      </a:lt1>
      <a:dk2>
        <a:srgbClr val="44546A"/>
      </a:dk2>
      <a:lt2>
        <a:srgbClr val="BFBFBF"/>
      </a:lt2>
      <a:accent1>
        <a:srgbClr val="246568"/>
      </a:accent1>
      <a:accent2>
        <a:srgbClr val="016A80"/>
      </a:accent2>
      <a:accent3>
        <a:srgbClr val="0098AE"/>
      </a:accent3>
      <a:accent4>
        <a:srgbClr val="0098AE"/>
      </a:accent4>
      <a:accent5>
        <a:srgbClr val="5B9BD5"/>
      </a:accent5>
      <a:accent6>
        <a:srgbClr val="D70E16"/>
      </a:accent6>
      <a:hlink>
        <a:srgbClr val="345BA8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20391</TotalTime>
  <Words>402</Words>
  <Application>Microsoft Office PowerPoint</Application>
  <PresentationFormat>Широкоэкранный</PresentationFormat>
  <Paragraphs>198</Paragraphs>
  <Slides>29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Open Sans</vt:lpstr>
      <vt:lpstr>Open Sans ExtraBold</vt:lpstr>
      <vt:lpstr>Open Sans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Артём Кочуков</dc:creator>
  <cp:lastModifiedBy>admin</cp:lastModifiedBy>
  <cp:revision>102</cp:revision>
  <dcterms:created xsi:type="dcterms:W3CDTF">2025-02-04T07:46:13Z</dcterms:created>
  <dcterms:modified xsi:type="dcterms:W3CDTF">2026-01-19T12:19:42Z</dcterms:modified>
</cp:coreProperties>
</file>